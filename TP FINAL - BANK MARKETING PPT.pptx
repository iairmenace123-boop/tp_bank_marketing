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432298-44AA-43B7-81A2-1A34807E1097}">
  <a:tblStyle styleId="{54432298-44AA-43B7-81A2-1A34807E1097}"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6DDD677-AC3A-43E0-B778-76E0CDB16EFA}"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regular.fntdata"/><Relationship Id="rId25" Type="http://schemas.openxmlformats.org/officeDocument/2006/relationships/slide" Target="slides/slide19.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ba25c0be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ba25c0be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c6f9e470d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c6f9e47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ba25c0be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ba25c0be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c6f9e470d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c6f9e470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ba25c0bec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aba25c0bec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ba25c0bec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ba25c0bec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ba25c0bec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ba25c0bec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cdc8b06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cdc8b06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c6f9e470d_0_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c6f9e470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b73ba8aa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b73ba8aa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c6f9e470d_0_1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c6f9e470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b73ba8aae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b73ba8aae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cdc8b067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cdc8b067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cdc8b067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cdc8b067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cdc8b067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cdc8b067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d39140c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d39140c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cdc8b067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cdc8b067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cdc8b067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cdc8b067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acdc8b067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acdc8b067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10.jp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6.jpg"/><Relationship Id="rId4" Type="http://schemas.openxmlformats.org/officeDocument/2006/relationships/image" Target="../media/image9.jp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jpg"/><Relationship Id="rId4" Type="http://schemas.openxmlformats.org/officeDocument/2006/relationships/image" Target="../media/image9.jp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460950" y="908465"/>
            <a:ext cx="8222100" cy="1464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s" sz="4400"/>
              <a:t>B</a:t>
            </a:r>
            <a:r>
              <a:rPr b="1" lang="es" sz="4400"/>
              <a:t>ank Marketing</a:t>
            </a:r>
            <a:endParaRPr b="1" sz="4400"/>
          </a:p>
          <a:p>
            <a:pPr indent="0" lvl="0" marL="0" rtl="0" algn="ctr">
              <a:spcBef>
                <a:spcPts val="0"/>
              </a:spcBef>
              <a:spcAft>
                <a:spcPts val="0"/>
              </a:spcAft>
              <a:buNone/>
            </a:pPr>
            <a:r>
              <a:rPr b="1" lang="es" sz="3000"/>
              <a:t> </a:t>
            </a:r>
            <a:r>
              <a:rPr lang="es" sz="3000"/>
              <a:t>Presentación del Trabajo Práctico Final</a:t>
            </a:r>
            <a:endParaRPr sz="3000"/>
          </a:p>
        </p:txBody>
      </p:sp>
      <p:sp>
        <p:nvSpPr>
          <p:cNvPr id="86" name="Google Shape;86;p13"/>
          <p:cNvSpPr txBox="1"/>
          <p:nvPr>
            <p:ph idx="1" type="subTitle"/>
          </p:nvPr>
        </p:nvSpPr>
        <p:spPr>
          <a:xfrm>
            <a:off x="460950" y="2372475"/>
            <a:ext cx="8530200" cy="2482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900"/>
          </a:p>
          <a:p>
            <a:pPr indent="0" lvl="0" marL="0" rtl="0" algn="l">
              <a:lnSpc>
                <a:spcPct val="115000"/>
              </a:lnSpc>
              <a:spcBef>
                <a:spcPts val="0"/>
              </a:spcBef>
              <a:spcAft>
                <a:spcPts val="0"/>
              </a:spcAft>
              <a:buNone/>
            </a:pPr>
            <a:r>
              <a:rPr lang="es" sz="1900"/>
              <a:t>Iair Ezequiel Menace - 911200</a:t>
            </a:r>
            <a:endParaRPr sz="1900"/>
          </a:p>
          <a:p>
            <a:pPr indent="0" lvl="0" marL="0" rtl="0" algn="l">
              <a:lnSpc>
                <a:spcPct val="115000"/>
              </a:lnSpc>
              <a:spcBef>
                <a:spcPts val="0"/>
              </a:spcBef>
              <a:spcAft>
                <a:spcPts val="0"/>
              </a:spcAft>
              <a:buNone/>
            </a:pPr>
            <a:r>
              <a:rPr lang="es" sz="1900"/>
              <a:t>Leonardo Fortunato  - 901573</a:t>
            </a:r>
            <a:endParaRPr sz="1900"/>
          </a:p>
          <a:p>
            <a:pPr indent="0" lvl="0" marL="0" rtl="0" algn="l">
              <a:lnSpc>
                <a:spcPct val="115000"/>
              </a:lnSpc>
              <a:spcBef>
                <a:spcPts val="0"/>
              </a:spcBef>
              <a:spcAft>
                <a:spcPts val="0"/>
              </a:spcAft>
              <a:buNone/>
            </a:pPr>
            <a:r>
              <a:rPr lang="es" sz="1900"/>
              <a:t>Profesor: Sidicaro Nicolas Leonardo</a:t>
            </a:r>
            <a:endParaRPr sz="1900"/>
          </a:p>
          <a:p>
            <a:pPr indent="0" lvl="0" marL="0" rtl="0" algn="l">
              <a:lnSpc>
                <a:spcPct val="115000"/>
              </a:lnSpc>
              <a:spcBef>
                <a:spcPts val="0"/>
              </a:spcBef>
              <a:spcAft>
                <a:spcPts val="0"/>
              </a:spcAft>
              <a:buNone/>
            </a:pPr>
            <a:r>
              <a:rPr lang="es" sz="1900"/>
              <a:t>Asignatura: Ciencia de datos para </a:t>
            </a:r>
            <a:r>
              <a:rPr lang="es" sz="1900"/>
              <a:t>economía</a:t>
            </a:r>
            <a:r>
              <a:rPr lang="es" sz="1900"/>
              <a:t> y negocios</a:t>
            </a:r>
            <a:endParaRPr sz="1900"/>
          </a:p>
          <a:p>
            <a:pPr indent="0" lvl="0" marL="0" rtl="0" algn="l">
              <a:lnSpc>
                <a:spcPct val="115000"/>
              </a:lnSpc>
              <a:spcBef>
                <a:spcPts val="0"/>
              </a:spcBef>
              <a:spcAft>
                <a:spcPts val="0"/>
              </a:spcAft>
              <a:buNone/>
            </a:pPr>
            <a:r>
              <a:rPr lang="es" sz="1900"/>
              <a:t>Segundo Cuatrimestre 2025</a:t>
            </a:r>
            <a:endParaRPr sz="1900"/>
          </a:p>
        </p:txBody>
      </p:sp>
      <p:pic>
        <p:nvPicPr>
          <p:cNvPr id="87" name="Google Shape;87;p13"/>
          <p:cNvPicPr preferRelativeResize="0"/>
          <p:nvPr/>
        </p:nvPicPr>
        <p:blipFill>
          <a:blip r:embed="rId3">
            <a:alphaModFix/>
          </a:blip>
          <a:stretch>
            <a:fillRect/>
          </a:stretch>
        </p:blipFill>
        <p:spPr>
          <a:xfrm>
            <a:off x="7209425" y="84850"/>
            <a:ext cx="823624" cy="823624"/>
          </a:xfrm>
          <a:prstGeom prst="rect">
            <a:avLst/>
          </a:prstGeom>
          <a:noFill/>
          <a:ln>
            <a:noFill/>
          </a:ln>
        </p:spPr>
      </p:pic>
      <p:pic>
        <p:nvPicPr>
          <p:cNvPr id="88" name="Google Shape;88;p13"/>
          <p:cNvPicPr preferRelativeResize="0"/>
          <p:nvPr/>
        </p:nvPicPr>
        <p:blipFill>
          <a:blip r:embed="rId4">
            <a:alphaModFix/>
          </a:blip>
          <a:stretch>
            <a:fillRect/>
          </a:stretch>
        </p:blipFill>
        <p:spPr>
          <a:xfrm>
            <a:off x="4135925" y="4524575"/>
            <a:ext cx="872146" cy="461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431925" y="43312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rPr>
              <a:t>Hipótesis y contexto</a:t>
            </a:r>
            <a:endParaRPr>
              <a:solidFill>
                <a:schemeClr val="lt1"/>
              </a:solidFill>
            </a:endParaRPr>
          </a:p>
        </p:txBody>
      </p:sp>
      <p:grpSp>
        <p:nvGrpSpPr>
          <p:cNvPr id="94" name="Google Shape;94;p14"/>
          <p:cNvGrpSpPr/>
          <p:nvPr/>
        </p:nvGrpSpPr>
        <p:grpSpPr>
          <a:xfrm>
            <a:off x="431925" y="1304875"/>
            <a:ext cx="2628925" cy="3416400"/>
            <a:chOff x="431925" y="1304875"/>
            <a:chExt cx="2628925" cy="3416400"/>
          </a:xfrm>
        </p:grpSpPr>
        <p:sp>
          <p:nvSpPr>
            <p:cNvPr id="95" name="Google Shape;95;p14"/>
            <p:cNvSpPr txBox="1"/>
            <p:nvPr/>
          </p:nvSpPr>
          <p:spPr>
            <a:xfrm>
              <a:off x="431925" y="1304875"/>
              <a:ext cx="2628900" cy="464100"/>
            </a:xfrm>
            <a:prstGeom prst="rect">
              <a:avLst/>
            </a:prstGeom>
            <a:solidFill>
              <a:srgbClr val="0F193C"/>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431950" y="1304875"/>
              <a:ext cx="2628900" cy="3416400"/>
            </a:xfrm>
            <a:prstGeom prst="rect">
              <a:avLst/>
            </a:prstGeom>
            <a:solidFill>
              <a:srgbClr val="0F193C"/>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4"/>
          <p:cNvSpPr txBox="1"/>
          <p:nvPr>
            <p:ph idx="4294967295" type="body"/>
          </p:nvPr>
        </p:nvSpPr>
        <p:spPr>
          <a:xfrm>
            <a:off x="431925" y="1304875"/>
            <a:ext cx="2632500" cy="461400"/>
          </a:xfrm>
          <a:prstGeom prst="rect">
            <a:avLst/>
          </a:prstGeom>
          <a:solidFill>
            <a:srgbClr val="04122B"/>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lt1"/>
                </a:solidFill>
              </a:rPr>
              <a:t>Empresa</a:t>
            </a:r>
            <a:endParaRPr sz="1600">
              <a:solidFill>
                <a:schemeClr val="lt1"/>
              </a:solidFill>
            </a:endParaRPr>
          </a:p>
        </p:txBody>
      </p:sp>
      <p:sp>
        <p:nvSpPr>
          <p:cNvPr id="98" name="Google Shape;98;p14"/>
          <p:cNvSpPr txBox="1"/>
          <p:nvPr>
            <p:ph idx="4294967295" type="body"/>
          </p:nvPr>
        </p:nvSpPr>
        <p:spPr>
          <a:xfrm>
            <a:off x="508400" y="1850300"/>
            <a:ext cx="2478600" cy="2794800"/>
          </a:xfrm>
          <a:prstGeom prst="rect">
            <a:avLst/>
          </a:prstGeom>
          <a:ln cap="flat" cmpd="sng" w="9525">
            <a:solidFill>
              <a:srgbClr val="0B1F4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s" sz="1500">
                <a:solidFill>
                  <a:schemeClr val="lt1"/>
                </a:solidFill>
              </a:rPr>
              <a:t>Los datos se relacionan con campañas de marketing directo de una entidad bancaria portuguesa. La campaña se basa en llamadas telefónicas. </a:t>
            </a:r>
            <a:endParaRPr>
              <a:solidFill>
                <a:schemeClr val="lt1"/>
              </a:solidFill>
            </a:endParaRPr>
          </a:p>
        </p:txBody>
      </p:sp>
      <p:grpSp>
        <p:nvGrpSpPr>
          <p:cNvPr id="99" name="Google Shape;99;p14"/>
          <p:cNvGrpSpPr/>
          <p:nvPr/>
        </p:nvGrpSpPr>
        <p:grpSpPr>
          <a:xfrm>
            <a:off x="3320450" y="1304875"/>
            <a:ext cx="2632500" cy="3416400"/>
            <a:chOff x="3320450" y="1304875"/>
            <a:chExt cx="2632500" cy="3416400"/>
          </a:xfrm>
        </p:grpSpPr>
        <p:sp>
          <p:nvSpPr>
            <p:cNvPr id="100" name="Google Shape;100;p14"/>
            <p:cNvSpPr txBox="1"/>
            <p:nvPr/>
          </p:nvSpPr>
          <p:spPr>
            <a:xfrm>
              <a:off x="3324050" y="1304875"/>
              <a:ext cx="2628900" cy="464100"/>
            </a:xfrm>
            <a:prstGeom prst="rect">
              <a:avLst/>
            </a:prstGeom>
            <a:solidFill>
              <a:schemeClr val="dk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3320450" y="1304875"/>
              <a:ext cx="2628900" cy="34164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 name="Google Shape;102;p14"/>
          <p:cNvSpPr txBox="1"/>
          <p:nvPr>
            <p:ph idx="4294967295" type="body"/>
          </p:nvPr>
        </p:nvSpPr>
        <p:spPr>
          <a:xfrm>
            <a:off x="3323650" y="1304875"/>
            <a:ext cx="2628900" cy="461400"/>
          </a:xfrm>
          <a:prstGeom prst="rect">
            <a:avLst/>
          </a:prstGeom>
          <a:solidFill>
            <a:srgbClr val="04122B"/>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 sz="1600">
                <a:solidFill>
                  <a:schemeClr val="lt1"/>
                </a:solidFill>
              </a:rPr>
              <a:t>Contexto</a:t>
            </a:r>
            <a:endParaRPr sz="1600">
              <a:solidFill>
                <a:schemeClr val="lt1"/>
              </a:solidFill>
            </a:endParaRPr>
          </a:p>
        </p:txBody>
      </p:sp>
      <p:sp>
        <p:nvSpPr>
          <p:cNvPr id="103" name="Google Shape;103;p14"/>
          <p:cNvSpPr txBox="1"/>
          <p:nvPr>
            <p:ph idx="4294967295" type="body"/>
          </p:nvPr>
        </p:nvSpPr>
        <p:spPr>
          <a:xfrm>
            <a:off x="3396775" y="1850300"/>
            <a:ext cx="2478600" cy="2794800"/>
          </a:xfrm>
          <a:prstGeom prst="rect">
            <a:avLst/>
          </a:prstGeom>
          <a:solidFill>
            <a:srgbClr val="0B1F44"/>
          </a:solidFill>
          <a:ln cap="flat" cmpd="sng" w="9525">
            <a:solidFill>
              <a:srgbClr val="0B1F4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s" sz="1500">
                <a:solidFill>
                  <a:schemeClr val="lt1"/>
                </a:solidFill>
              </a:rPr>
              <a:t>El objetivo de la clasificación es predecir si el cliente </a:t>
            </a:r>
            <a:r>
              <a:rPr lang="es" sz="1500">
                <a:solidFill>
                  <a:schemeClr val="lt1"/>
                </a:solidFill>
              </a:rPr>
              <a:t>suscribió</a:t>
            </a:r>
            <a:r>
              <a:rPr lang="es" sz="1500">
                <a:solidFill>
                  <a:schemeClr val="lt1"/>
                </a:solidFill>
              </a:rPr>
              <a:t> un depósito a plazo.</a:t>
            </a:r>
            <a:endParaRPr/>
          </a:p>
        </p:txBody>
      </p:sp>
      <p:grpSp>
        <p:nvGrpSpPr>
          <p:cNvPr id="104" name="Google Shape;104;p14"/>
          <p:cNvGrpSpPr/>
          <p:nvPr/>
        </p:nvGrpSpPr>
        <p:grpSpPr>
          <a:xfrm>
            <a:off x="6212550" y="1304789"/>
            <a:ext cx="2632500" cy="3633341"/>
            <a:chOff x="6212550" y="1304875"/>
            <a:chExt cx="2632500" cy="3416400"/>
          </a:xfrm>
        </p:grpSpPr>
        <p:sp>
          <p:nvSpPr>
            <p:cNvPr id="105" name="Google Shape;105;p14"/>
            <p:cNvSpPr/>
            <p:nvPr/>
          </p:nvSpPr>
          <p:spPr>
            <a:xfrm>
              <a:off x="6215400" y="1304875"/>
              <a:ext cx="2628900" cy="34164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txBox="1"/>
            <p:nvPr/>
          </p:nvSpPr>
          <p:spPr>
            <a:xfrm>
              <a:off x="6212550" y="1304875"/>
              <a:ext cx="2632500" cy="464100"/>
            </a:xfrm>
            <a:prstGeom prst="rect">
              <a:avLst/>
            </a:prstGeom>
            <a:solidFill>
              <a:schemeClr val="dk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4"/>
          <p:cNvSpPr txBox="1"/>
          <p:nvPr>
            <p:ph idx="4294967295" type="body"/>
          </p:nvPr>
        </p:nvSpPr>
        <p:spPr>
          <a:xfrm>
            <a:off x="6212550" y="1304875"/>
            <a:ext cx="2632500" cy="461400"/>
          </a:xfrm>
          <a:prstGeom prst="rect">
            <a:avLst/>
          </a:prstGeom>
          <a:solidFill>
            <a:srgbClr val="04122B"/>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lt1"/>
                </a:solidFill>
              </a:rPr>
              <a:t>Hipótesis</a:t>
            </a:r>
            <a:endParaRPr sz="1600">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108" name="Google Shape;108;p14"/>
          <p:cNvSpPr txBox="1"/>
          <p:nvPr>
            <p:ph idx="4294967295" type="body"/>
          </p:nvPr>
        </p:nvSpPr>
        <p:spPr>
          <a:xfrm>
            <a:off x="6286400" y="1850300"/>
            <a:ext cx="2478600" cy="3014700"/>
          </a:xfrm>
          <a:prstGeom prst="rect">
            <a:avLst/>
          </a:prstGeom>
          <a:solidFill>
            <a:srgbClr val="0F193C"/>
          </a:solidFill>
          <a:ln cap="flat" cmpd="sng" w="9525">
            <a:solidFill>
              <a:srgbClr val="0B1F4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lt1"/>
                </a:solidFill>
              </a:rPr>
              <a:t>La probabilidad de que un cliente contrate depende de la duración de la llamada, del tipo de contacto y de su interacción (Duration × Contact), controlando por edad y </a:t>
            </a:r>
            <a:r>
              <a:rPr lang="es" sz="1500">
                <a:solidFill>
                  <a:schemeClr val="lt1"/>
                </a:solidFill>
              </a:rPr>
              <a:t>euribor 3m</a:t>
            </a:r>
            <a:endParaRPr sz="2100"/>
          </a:p>
        </p:txBody>
      </p:sp>
      <p:pic>
        <p:nvPicPr>
          <p:cNvPr id="109" name="Google Shape;109;p14"/>
          <p:cNvPicPr preferRelativeResize="0"/>
          <p:nvPr/>
        </p:nvPicPr>
        <p:blipFill>
          <a:blip r:embed="rId3">
            <a:alphaModFix/>
          </a:blip>
          <a:stretch>
            <a:fillRect/>
          </a:stretch>
        </p:blipFill>
        <p:spPr>
          <a:xfrm>
            <a:off x="990300" y="3753600"/>
            <a:ext cx="1405250" cy="891500"/>
          </a:xfrm>
          <a:prstGeom prst="rect">
            <a:avLst/>
          </a:prstGeom>
          <a:noFill/>
          <a:ln>
            <a:noFill/>
          </a:ln>
        </p:spPr>
      </p:pic>
      <p:pic>
        <p:nvPicPr>
          <p:cNvPr id="110" name="Google Shape;110;p14"/>
          <p:cNvPicPr preferRelativeResize="0"/>
          <p:nvPr/>
        </p:nvPicPr>
        <p:blipFill>
          <a:blip r:embed="rId4">
            <a:alphaModFix/>
          </a:blip>
          <a:stretch>
            <a:fillRect/>
          </a:stretch>
        </p:blipFill>
        <p:spPr>
          <a:xfrm>
            <a:off x="4053975" y="4645100"/>
            <a:ext cx="872146" cy="461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15"/>
          <p:cNvPicPr preferRelativeResize="0"/>
          <p:nvPr/>
        </p:nvPicPr>
        <p:blipFill>
          <a:blip r:embed="rId3">
            <a:alphaModFix/>
          </a:blip>
          <a:stretch>
            <a:fillRect/>
          </a:stretch>
        </p:blipFill>
        <p:spPr>
          <a:xfrm>
            <a:off x="395275" y="1282888"/>
            <a:ext cx="8353425" cy="2771775"/>
          </a:xfrm>
          <a:prstGeom prst="rect">
            <a:avLst/>
          </a:prstGeom>
          <a:noFill/>
          <a:ln>
            <a:noFill/>
          </a:ln>
        </p:spPr>
      </p:pic>
      <p:sp>
        <p:nvSpPr>
          <p:cNvPr id="116" name="Google Shape;116;p15"/>
          <p:cNvSpPr txBox="1"/>
          <p:nvPr/>
        </p:nvSpPr>
        <p:spPr>
          <a:xfrm>
            <a:off x="744838" y="387875"/>
            <a:ext cx="6613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0">
                <a:solidFill>
                  <a:schemeClr val="lt1"/>
                </a:solidFill>
                <a:latin typeface="Roboto"/>
                <a:ea typeface="Roboto"/>
                <a:cs typeface="Roboto"/>
                <a:sym typeface="Roboto"/>
              </a:rPr>
              <a:t>Variables clave y contexto</a:t>
            </a:r>
            <a:endParaRPr sz="3000">
              <a:solidFill>
                <a:schemeClr val="lt1"/>
              </a:solidFill>
              <a:latin typeface="Roboto"/>
              <a:ea typeface="Roboto"/>
              <a:cs typeface="Roboto"/>
              <a:sym typeface="Roboto"/>
            </a:endParaRPr>
          </a:p>
        </p:txBody>
      </p:sp>
      <p:pic>
        <p:nvPicPr>
          <p:cNvPr id="117" name="Google Shape;117;p15"/>
          <p:cNvPicPr preferRelativeResize="0"/>
          <p:nvPr/>
        </p:nvPicPr>
        <p:blipFill>
          <a:blip r:embed="rId4">
            <a:alphaModFix/>
          </a:blip>
          <a:stretch>
            <a:fillRect/>
          </a:stretch>
        </p:blipFill>
        <p:spPr>
          <a:xfrm>
            <a:off x="4053975" y="4645100"/>
            <a:ext cx="872146" cy="461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6"/>
          <p:cNvSpPr txBox="1"/>
          <p:nvPr>
            <p:ph type="title"/>
          </p:nvPr>
        </p:nvSpPr>
        <p:spPr>
          <a:xfrm>
            <a:off x="623400" y="3855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rPr>
              <a:t>Análisis de los llamados</a:t>
            </a:r>
            <a:endParaRPr>
              <a:solidFill>
                <a:schemeClr val="lt1"/>
              </a:solidFill>
            </a:endParaRPr>
          </a:p>
        </p:txBody>
      </p:sp>
      <p:sp>
        <p:nvSpPr>
          <p:cNvPr id="123" name="Google Shape;123;p16"/>
          <p:cNvSpPr/>
          <p:nvPr/>
        </p:nvSpPr>
        <p:spPr>
          <a:xfrm>
            <a:off x="432350" y="1304875"/>
            <a:ext cx="2469300" cy="607800"/>
          </a:xfrm>
          <a:prstGeom prst="homePlate">
            <a:avLst>
              <a:gd fmla="val 50000" name="adj"/>
            </a:avLst>
          </a:prstGeom>
          <a:solidFill>
            <a:srgbClr val="0B1F44"/>
          </a:solidFill>
          <a:ln cap="flat" cmpd="sng" w="9525">
            <a:solidFill>
              <a:srgbClr val="4A86E8"/>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24" name="Google Shape;124;p16"/>
          <p:cNvSpPr txBox="1"/>
          <p:nvPr>
            <p:ph idx="4294967295" type="body"/>
          </p:nvPr>
        </p:nvSpPr>
        <p:spPr>
          <a:xfrm>
            <a:off x="945225" y="1451575"/>
            <a:ext cx="1243200" cy="314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
                <a:solidFill>
                  <a:schemeClr val="lt1"/>
                </a:solidFill>
              </a:rPr>
              <a:t>Llamadas</a:t>
            </a:r>
            <a:endParaRPr>
              <a:solidFill>
                <a:schemeClr val="lt1"/>
              </a:solidFill>
            </a:endParaRPr>
          </a:p>
        </p:txBody>
      </p:sp>
      <p:sp>
        <p:nvSpPr>
          <p:cNvPr id="125" name="Google Shape;125;p16"/>
          <p:cNvSpPr txBox="1"/>
          <p:nvPr>
            <p:ph idx="4294967295" type="body"/>
          </p:nvPr>
        </p:nvSpPr>
        <p:spPr>
          <a:xfrm>
            <a:off x="432350" y="2070575"/>
            <a:ext cx="2471700" cy="244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600">
                <a:solidFill>
                  <a:schemeClr val="lt1"/>
                </a:solidFill>
              </a:rPr>
              <a:t>Tipo de Contacto</a:t>
            </a:r>
            <a:endParaRPr b="1" sz="1600">
              <a:solidFill>
                <a:schemeClr val="lt1"/>
              </a:solidFill>
            </a:endParaRPr>
          </a:p>
          <a:p>
            <a:pPr indent="0" lvl="0" marL="0" rtl="0" algn="l">
              <a:spcBef>
                <a:spcPts val="800"/>
              </a:spcBef>
              <a:spcAft>
                <a:spcPts val="800"/>
              </a:spcAft>
              <a:buNone/>
            </a:pPr>
            <a:r>
              <a:rPr lang="es" sz="1600">
                <a:solidFill>
                  <a:schemeClr val="lt1"/>
                </a:solidFill>
              </a:rPr>
              <a:t>Notamos que muchos llamados se realizaron a celulares entre los meses de mayo a agosto, mientras que en enero y febrero no se realizaron llamadas.</a:t>
            </a:r>
            <a:endParaRPr sz="1600">
              <a:solidFill>
                <a:schemeClr val="lt1"/>
              </a:solidFill>
            </a:endParaRPr>
          </a:p>
        </p:txBody>
      </p:sp>
      <p:sp>
        <p:nvSpPr>
          <p:cNvPr id="126" name="Google Shape;126;p16"/>
          <p:cNvSpPr/>
          <p:nvPr/>
        </p:nvSpPr>
        <p:spPr>
          <a:xfrm>
            <a:off x="3044777" y="1304875"/>
            <a:ext cx="2760600" cy="607800"/>
          </a:xfrm>
          <a:prstGeom prst="chevron">
            <a:avLst>
              <a:gd fmla="val 48622" name="adj"/>
            </a:avLst>
          </a:prstGeom>
          <a:solidFill>
            <a:srgbClr val="0B1F44"/>
          </a:solidFill>
          <a:ln cap="flat" cmpd="sng" w="9525">
            <a:solidFill>
              <a:srgbClr val="4A86E8"/>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27" name="Google Shape;127;p16"/>
          <p:cNvSpPr txBox="1"/>
          <p:nvPr>
            <p:ph idx="4294967295" type="body"/>
          </p:nvPr>
        </p:nvSpPr>
        <p:spPr>
          <a:xfrm>
            <a:off x="3771675" y="1451575"/>
            <a:ext cx="1306800" cy="314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
                <a:solidFill>
                  <a:schemeClr val="lt1"/>
                </a:solidFill>
              </a:rPr>
              <a:t>Duración</a:t>
            </a:r>
            <a:endParaRPr>
              <a:solidFill>
                <a:schemeClr val="lt1"/>
              </a:solidFill>
            </a:endParaRPr>
          </a:p>
        </p:txBody>
      </p:sp>
      <p:sp>
        <p:nvSpPr>
          <p:cNvPr id="128" name="Google Shape;128;p16"/>
          <p:cNvSpPr txBox="1"/>
          <p:nvPr>
            <p:ph idx="4294967295" type="body"/>
          </p:nvPr>
        </p:nvSpPr>
        <p:spPr>
          <a:xfrm>
            <a:off x="3118875" y="2070575"/>
            <a:ext cx="2612400" cy="2110800"/>
          </a:xfrm>
          <a:prstGeom prst="rect">
            <a:avLst/>
          </a:prstGeom>
          <a:solidFill>
            <a:srgbClr val="0B1F42"/>
          </a:solidFill>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s" sz="1600">
                <a:solidFill>
                  <a:schemeClr val="lt1"/>
                </a:solidFill>
              </a:rPr>
              <a:t>Descartamos llamadas cortas</a:t>
            </a:r>
            <a:endParaRPr b="1" sz="1600">
              <a:solidFill>
                <a:schemeClr val="lt1"/>
              </a:solidFill>
            </a:endParaRPr>
          </a:p>
          <a:p>
            <a:pPr indent="0" lvl="0" marL="0" marR="0" rtl="0" algn="l">
              <a:lnSpc>
                <a:spcPct val="115000"/>
              </a:lnSpc>
              <a:spcBef>
                <a:spcPts val="800"/>
              </a:spcBef>
              <a:spcAft>
                <a:spcPts val="0"/>
              </a:spcAft>
              <a:buNone/>
            </a:pPr>
            <a:r>
              <a:rPr lang="es" sz="1600">
                <a:solidFill>
                  <a:schemeClr val="lt1"/>
                </a:solidFill>
              </a:rPr>
              <a:t>De 5 segundos o menos, y</a:t>
            </a:r>
            <a:r>
              <a:rPr lang="es" sz="1600">
                <a:solidFill>
                  <a:schemeClr val="lt1"/>
                </a:solidFill>
              </a:rPr>
              <a:t>a que en ese tiempo no es posible una interacción significativa entre el encuestado y encuestador.</a:t>
            </a:r>
            <a:endParaRPr sz="1600"/>
          </a:p>
          <a:p>
            <a:pPr indent="0" lvl="0" marL="0" rtl="0" algn="l">
              <a:spcBef>
                <a:spcPts val="800"/>
              </a:spcBef>
              <a:spcAft>
                <a:spcPts val="0"/>
              </a:spcAft>
              <a:buNone/>
            </a:pPr>
            <a:r>
              <a:t/>
            </a:r>
            <a:endParaRPr sz="1600"/>
          </a:p>
        </p:txBody>
      </p:sp>
      <p:sp>
        <p:nvSpPr>
          <p:cNvPr id="129" name="Google Shape;129;p16"/>
          <p:cNvSpPr/>
          <p:nvPr/>
        </p:nvSpPr>
        <p:spPr>
          <a:xfrm>
            <a:off x="5948502" y="1304875"/>
            <a:ext cx="2760600" cy="607800"/>
          </a:xfrm>
          <a:prstGeom prst="chevron">
            <a:avLst>
              <a:gd fmla="val 50000" name="adj"/>
            </a:avLst>
          </a:prstGeom>
          <a:solidFill>
            <a:srgbClr val="0B1F44"/>
          </a:solidFill>
          <a:ln cap="flat" cmpd="sng" w="9525">
            <a:solidFill>
              <a:srgbClr val="4A86E8"/>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30" name="Google Shape;130;p16"/>
          <p:cNvSpPr txBox="1"/>
          <p:nvPr>
            <p:ph idx="4294967295" type="body"/>
          </p:nvPr>
        </p:nvSpPr>
        <p:spPr>
          <a:xfrm>
            <a:off x="6661729" y="1451575"/>
            <a:ext cx="1087200" cy="314400"/>
          </a:xfrm>
          <a:prstGeom prst="rect">
            <a:avLst/>
          </a:prstGeom>
          <a:solidFill>
            <a:srgbClr val="0B1F44"/>
          </a:solidFill>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
                <a:solidFill>
                  <a:schemeClr val="lt1"/>
                </a:solidFill>
              </a:rPr>
              <a:t>Outliers</a:t>
            </a:r>
            <a:endParaRPr b="1">
              <a:solidFill>
                <a:schemeClr val="lt1"/>
              </a:solidFill>
            </a:endParaRPr>
          </a:p>
        </p:txBody>
      </p:sp>
      <p:sp>
        <p:nvSpPr>
          <p:cNvPr id="131" name="Google Shape;131;p16"/>
          <p:cNvSpPr txBox="1"/>
          <p:nvPr>
            <p:ph idx="4294967295" type="body"/>
          </p:nvPr>
        </p:nvSpPr>
        <p:spPr>
          <a:xfrm>
            <a:off x="6254225" y="2070575"/>
            <a:ext cx="2471700" cy="1622100"/>
          </a:xfrm>
          <a:prstGeom prst="rect">
            <a:avLst/>
          </a:prstGeom>
          <a:solidFill>
            <a:srgbClr val="0B1F42"/>
          </a:solidFill>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s" sz="1600">
                <a:solidFill>
                  <a:schemeClr val="lt1"/>
                </a:solidFill>
              </a:rPr>
              <a:t>Llamadas muy extensas</a:t>
            </a:r>
            <a:endParaRPr b="1" sz="1600">
              <a:solidFill>
                <a:schemeClr val="lt1"/>
              </a:solidFill>
            </a:endParaRPr>
          </a:p>
          <a:p>
            <a:pPr indent="0" lvl="0" marL="0" marR="0" rtl="0" algn="l">
              <a:lnSpc>
                <a:spcPct val="115000"/>
              </a:lnSpc>
              <a:spcBef>
                <a:spcPts val="800"/>
              </a:spcBef>
              <a:spcAft>
                <a:spcPts val="800"/>
              </a:spcAft>
              <a:buNone/>
            </a:pPr>
            <a:r>
              <a:rPr lang="es" sz="1600">
                <a:solidFill>
                  <a:schemeClr val="lt1"/>
                </a:solidFill>
              </a:rPr>
              <a:t>Se registran llamadas muy extensas, con duraciones mayores a una hora.</a:t>
            </a:r>
            <a:endParaRPr sz="1600"/>
          </a:p>
        </p:txBody>
      </p:sp>
      <p:pic>
        <p:nvPicPr>
          <p:cNvPr id="132" name="Google Shape;132;p16"/>
          <p:cNvPicPr preferRelativeResize="0"/>
          <p:nvPr/>
        </p:nvPicPr>
        <p:blipFill>
          <a:blip r:embed="rId3">
            <a:alphaModFix/>
          </a:blip>
          <a:stretch>
            <a:fillRect/>
          </a:stretch>
        </p:blipFill>
        <p:spPr>
          <a:xfrm>
            <a:off x="4053975" y="4645100"/>
            <a:ext cx="872146" cy="46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17" title="Metodos de contacto-1.jpeg"/>
          <p:cNvPicPr preferRelativeResize="0"/>
          <p:nvPr/>
        </p:nvPicPr>
        <p:blipFill>
          <a:blip r:embed="rId3">
            <a:alphaModFix/>
          </a:blip>
          <a:stretch>
            <a:fillRect/>
          </a:stretch>
        </p:blipFill>
        <p:spPr>
          <a:xfrm>
            <a:off x="650562" y="2131275"/>
            <a:ext cx="2992275" cy="2706925"/>
          </a:xfrm>
          <a:prstGeom prst="rect">
            <a:avLst/>
          </a:prstGeom>
          <a:noFill/>
          <a:ln>
            <a:noFill/>
          </a:ln>
        </p:spPr>
      </p:pic>
      <p:sp>
        <p:nvSpPr>
          <p:cNvPr id="138" name="Google Shape;138;p17"/>
          <p:cNvSpPr txBox="1"/>
          <p:nvPr>
            <p:ph type="title"/>
          </p:nvPr>
        </p:nvSpPr>
        <p:spPr>
          <a:xfrm>
            <a:off x="575650" y="90600"/>
            <a:ext cx="4045200" cy="82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000" u="sng">
                <a:solidFill>
                  <a:schemeClr val="lt1"/>
                </a:solidFill>
              </a:rPr>
              <a:t>Tipo de contacto</a:t>
            </a:r>
            <a:endParaRPr u="sng"/>
          </a:p>
        </p:txBody>
      </p:sp>
      <p:sp>
        <p:nvSpPr>
          <p:cNvPr id="139" name="Google Shape;139;p17"/>
          <p:cNvSpPr txBox="1"/>
          <p:nvPr>
            <p:ph idx="4294967295" type="subTitle"/>
          </p:nvPr>
        </p:nvSpPr>
        <p:spPr>
          <a:xfrm>
            <a:off x="124100" y="737099"/>
            <a:ext cx="4045200" cy="2174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Char char="●"/>
            </a:pPr>
            <a:r>
              <a:rPr lang="es" sz="1700">
                <a:solidFill>
                  <a:schemeClr val="lt1"/>
                </a:solidFill>
              </a:rPr>
              <a:t>El 37% de los encuestados respondieron desde un teléfono fijo, mientras que el restante desde el celular.</a:t>
            </a:r>
            <a:endParaRPr sz="1700">
              <a:solidFill>
                <a:schemeClr val="lt1"/>
              </a:solidFill>
            </a:endParaRPr>
          </a:p>
          <a:p>
            <a:pPr indent="0" lvl="0" marL="914400" rtl="0" algn="l">
              <a:spcBef>
                <a:spcPts val="1600"/>
              </a:spcBef>
              <a:spcAft>
                <a:spcPts val="1600"/>
              </a:spcAft>
              <a:buNone/>
            </a:pPr>
            <a:r>
              <a:t/>
            </a:r>
            <a:endParaRPr/>
          </a:p>
        </p:txBody>
      </p:sp>
      <p:sp>
        <p:nvSpPr>
          <p:cNvPr id="140" name="Google Shape;140;p17"/>
          <p:cNvSpPr txBox="1"/>
          <p:nvPr/>
        </p:nvSpPr>
        <p:spPr>
          <a:xfrm>
            <a:off x="4994525" y="90600"/>
            <a:ext cx="3531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3000" u="sng">
                <a:solidFill>
                  <a:schemeClr val="lt1"/>
                </a:solidFill>
                <a:latin typeface="Roboto"/>
                <a:ea typeface="Roboto"/>
                <a:cs typeface="Roboto"/>
                <a:sym typeface="Roboto"/>
              </a:rPr>
              <a:t>Mes de contacto</a:t>
            </a:r>
            <a:endParaRPr u="sng"/>
          </a:p>
        </p:txBody>
      </p:sp>
      <p:sp>
        <p:nvSpPr>
          <p:cNvPr id="141" name="Google Shape;141;p17"/>
          <p:cNvSpPr txBox="1"/>
          <p:nvPr/>
        </p:nvSpPr>
        <p:spPr>
          <a:xfrm>
            <a:off x="4408013" y="737100"/>
            <a:ext cx="4604100" cy="1431600"/>
          </a:xfrm>
          <a:prstGeom prst="rect">
            <a:avLst/>
          </a:prstGeom>
          <a:noFill/>
          <a:ln>
            <a:noFill/>
          </a:ln>
        </p:spPr>
        <p:txBody>
          <a:bodyPr anchorCtr="0" anchor="ctr" bIns="91425" lIns="91425" spcFirstLastPara="1" rIns="91425" wrap="square" tIns="91425">
            <a:spAutoFit/>
          </a:bodyPr>
          <a:lstStyle/>
          <a:p>
            <a:pPr indent="-336550" lvl="0" marL="457200" rtl="0" algn="l">
              <a:spcBef>
                <a:spcPts val="0"/>
              </a:spcBef>
              <a:spcAft>
                <a:spcPts val="0"/>
              </a:spcAft>
              <a:buClr>
                <a:schemeClr val="lt1"/>
              </a:buClr>
              <a:buSzPts val="1700"/>
              <a:buFont typeface="Roboto"/>
              <a:buChar char="●"/>
            </a:pPr>
            <a:r>
              <a:rPr lang="es" sz="1700">
                <a:solidFill>
                  <a:schemeClr val="lt1"/>
                </a:solidFill>
                <a:latin typeface="Roboto"/>
                <a:ea typeface="Roboto"/>
                <a:cs typeface="Roboto"/>
                <a:sym typeface="Roboto"/>
              </a:rPr>
              <a:t>El 78% de los contactos fueron hechos entre mayo y agosto</a:t>
            </a:r>
            <a:endParaRPr sz="1700">
              <a:solidFill>
                <a:schemeClr val="lt1"/>
              </a:solidFill>
              <a:latin typeface="Roboto"/>
              <a:ea typeface="Roboto"/>
              <a:cs typeface="Roboto"/>
              <a:sym typeface="Roboto"/>
            </a:endParaRPr>
          </a:p>
          <a:p>
            <a:pPr indent="-336550" lvl="0" marL="457200" rtl="0" algn="l">
              <a:spcBef>
                <a:spcPts val="0"/>
              </a:spcBef>
              <a:spcAft>
                <a:spcPts val="0"/>
              </a:spcAft>
              <a:buClr>
                <a:schemeClr val="lt1"/>
              </a:buClr>
              <a:buSzPts val="1700"/>
              <a:buFont typeface="Roboto"/>
              <a:buChar char="●"/>
            </a:pPr>
            <a:r>
              <a:rPr lang="es" sz="1700">
                <a:solidFill>
                  <a:schemeClr val="lt1"/>
                </a:solidFill>
                <a:latin typeface="Roboto"/>
                <a:ea typeface="Roboto"/>
                <a:cs typeface="Roboto"/>
                <a:sym typeface="Roboto"/>
              </a:rPr>
              <a:t>Mientras que en enero y febrero no se realizaron contactos</a:t>
            </a:r>
            <a:br>
              <a:rPr lang="es" sz="1700">
                <a:solidFill>
                  <a:schemeClr val="lt1"/>
                </a:solidFill>
                <a:latin typeface="Roboto"/>
                <a:ea typeface="Roboto"/>
                <a:cs typeface="Roboto"/>
                <a:sym typeface="Roboto"/>
              </a:rPr>
            </a:br>
            <a:endParaRPr sz="1300"/>
          </a:p>
        </p:txBody>
      </p:sp>
      <p:pic>
        <p:nvPicPr>
          <p:cNvPr id="142" name="Google Shape;142;p17" title="Q Contactos por mes-2.jpeg"/>
          <p:cNvPicPr preferRelativeResize="0"/>
          <p:nvPr/>
        </p:nvPicPr>
        <p:blipFill>
          <a:blip r:embed="rId4">
            <a:alphaModFix/>
          </a:blip>
          <a:stretch>
            <a:fillRect/>
          </a:stretch>
        </p:blipFill>
        <p:spPr>
          <a:xfrm>
            <a:off x="5337253" y="2060200"/>
            <a:ext cx="3149375" cy="2849050"/>
          </a:xfrm>
          <a:prstGeom prst="rect">
            <a:avLst/>
          </a:prstGeom>
          <a:noFill/>
          <a:ln>
            <a:noFill/>
          </a:ln>
        </p:spPr>
      </p:pic>
      <p:pic>
        <p:nvPicPr>
          <p:cNvPr id="143" name="Google Shape;143;p17"/>
          <p:cNvPicPr preferRelativeResize="0"/>
          <p:nvPr/>
        </p:nvPicPr>
        <p:blipFill>
          <a:blip r:embed="rId5">
            <a:alphaModFix/>
          </a:blip>
          <a:stretch>
            <a:fillRect/>
          </a:stretch>
        </p:blipFill>
        <p:spPr>
          <a:xfrm>
            <a:off x="4053975" y="4645100"/>
            <a:ext cx="872146" cy="461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8" title="Distribucion log-4.jpeg"/>
          <p:cNvPicPr preferRelativeResize="0"/>
          <p:nvPr/>
        </p:nvPicPr>
        <p:blipFill>
          <a:blip r:embed="rId3">
            <a:alphaModFix/>
          </a:blip>
          <a:stretch>
            <a:fillRect/>
          </a:stretch>
        </p:blipFill>
        <p:spPr>
          <a:xfrm>
            <a:off x="5352650" y="2012110"/>
            <a:ext cx="3039700" cy="2749826"/>
          </a:xfrm>
          <a:prstGeom prst="rect">
            <a:avLst/>
          </a:prstGeom>
          <a:noFill/>
          <a:ln>
            <a:noFill/>
          </a:ln>
        </p:spPr>
      </p:pic>
      <p:pic>
        <p:nvPicPr>
          <p:cNvPr id="149" name="Google Shape;149;p18" title="distribucion con outliers-3.jpeg"/>
          <p:cNvPicPr preferRelativeResize="0"/>
          <p:nvPr/>
        </p:nvPicPr>
        <p:blipFill>
          <a:blip r:embed="rId4">
            <a:alphaModFix/>
          </a:blip>
          <a:stretch>
            <a:fillRect/>
          </a:stretch>
        </p:blipFill>
        <p:spPr>
          <a:xfrm>
            <a:off x="803825" y="2012100"/>
            <a:ext cx="3039700" cy="2749850"/>
          </a:xfrm>
          <a:prstGeom prst="rect">
            <a:avLst/>
          </a:prstGeom>
          <a:noFill/>
          <a:ln>
            <a:noFill/>
          </a:ln>
        </p:spPr>
      </p:pic>
      <p:sp>
        <p:nvSpPr>
          <p:cNvPr id="150" name="Google Shape;150;p18"/>
          <p:cNvSpPr txBox="1"/>
          <p:nvPr/>
        </p:nvSpPr>
        <p:spPr>
          <a:xfrm>
            <a:off x="429900" y="207600"/>
            <a:ext cx="4142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3000" u="sng">
                <a:solidFill>
                  <a:schemeClr val="lt1"/>
                </a:solidFill>
                <a:latin typeface="Roboto"/>
                <a:ea typeface="Roboto"/>
                <a:cs typeface="Roboto"/>
                <a:sym typeface="Roboto"/>
              </a:rPr>
              <a:t>Duración de la llamada</a:t>
            </a:r>
            <a:endParaRPr u="sng"/>
          </a:p>
        </p:txBody>
      </p:sp>
      <p:sp>
        <p:nvSpPr>
          <p:cNvPr id="151" name="Google Shape;151;p18"/>
          <p:cNvSpPr txBox="1"/>
          <p:nvPr/>
        </p:nvSpPr>
        <p:spPr>
          <a:xfrm>
            <a:off x="280875" y="950088"/>
            <a:ext cx="3847500" cy="1062000"/>
          </a:xfrm>
          <a:prstGeom prst="rect">
            <a:avLst/>
          </a:prstGeom>
          <a:noFill/>
          <a:ln>
            <a:noFill/>
          </a:ln>
        </p:spPr>
        <p:txBody>
          <a:bodyPr anchorCtr="0" anchor="t" bIns="91425" lIns="91425" spcFirstLastPara="1" rIns="91425" wrap="square" tIns="91425">
            <a:spAutoFit/>
          </a:bodyPr>
          <a:lstStyle/>
          <a:p>
            <a:pPr indent="-349250" lvl="0" marL="457200" rtl="0" algn="ctr">
              <a:spcBef>
                <a:spcPts val="0"/>
              </a:spcBef>
              <a:spcAft>
                <a:spcPts val="0"/>
              </a:spcAft>
              <a:buClr>
                <a:schemeClr val="lt1"/>
              </a:buClr>
              <a:buSzPts val="1900"/>
              <a:buFont typeface="Roboto"/>
              <a:buChar char="●"/>
            </a:pPr>
            <a:r>
              <a:rPr lang="es" sz="1900">
                <a:solidFill>
                  <a:schemeClr val="lt1"/>
                </a:solidFill>
                <a:latin typeface="Roboto"/>
                <a:ea typeface="Roboto"/>
                <a:cs typeface="Roboto"/>
                <a:sym typeface="Roboto"/>
              </a:rPr>
              <a:t>Presenta una cantidad relevante de valores altos (outliers)</a:t>
            </a:r>
            <a:endParaRPr>
              <a:solidFill>
                <a:schemeClr val="lt1"/>
              </a:solidFill>
            </a:endParaRPr>
          </a:p>
        </p:txBody>
      </p:sp>
      <p:sp>
        <p:nvSpPr>
          <p:cNvPr id="152" name="Google Shape;152;p18"/>
          <p:cNvSpPr txBox="1"/>
          <p:nvPr/>
        </p:nvSpPr>
        <p:spPr>
          <a:xfrm>
            <a:off x="4926125" y="928050"/>
            <a:ext cx="3426600" cy="813600"/>
          </a:xfrm>
          <a:prstGeom prst="rect">
            <a:avLst/>
          </a:prstGeom>
          <a:noFill/>
          <a:ln>
            <a:noFill/>
          </a:ln>
        </p:spPr>
        <p:txBody>
          <a:bodyPr anchorCtr="0" anchor="t" bIns="91425" lIns="91425" spcFirstLastPara="1" rIns="91425" wrap="square" tIns="91425">
            <a:spAutoFit/>
          </a:bodyPr>
          <a:lstStyle/>
          <a:p>
            <a:pPr indent="-349250" lvl="0" marL="457200" rtl="0" algn="ctr">
              <a:lnSpc>
                <a:spcPct val="115000"/>
              </a:lnSpc>
              <a:spcBef>
                <a:spcPts val="0"/>
              </a:spcBef>
              <a:spcAft>
                <a:spcPts val="0"/>
              </a:spcAft>
              <a:buClr>
                <a:schemeClr val="lt1"/>
              </a:buClr>
              <a:buSzPts val="1900"/>
              <a:buFont typeface="Roboto"/>
              <a:buChar char="●"/>
            </a:pPr>
            <a:r>
              <a:rPr lang="es" sz="1900">
                <a:solidFill>
                  <a:schemeClr val="lt1"/>
                </a:solidFill>
                <a:latin typeface="Roboto"/>
                <a:ea typeface="Roboto"/>
                <a:cs typeface="Roboto"/>
                <a:sym typeface="Roboto"/>
              </a:rPr>
              <a:t>Ajuste logarítmico, para una mejor visualización</a:t>
            </a:r>
            <a:endParaRPr/>
          </a:p>
        </p:txBody>
      </p:sp>
      <p:pic>
        <p:nvPicPr>
          <p:cNvPr id="153" name="Google Shape;153;p18"/>
          <p:cNvPicPr preferRelativeResize="0"/>
          <p:nvPr/>
        </p:nvPicPr>
        <p:blipFill>
          <a:blip r:embed="rId5">
            <a:alphaModFix/>
          </a:blip>
          <a:stretch>
            <a:fillRect/>
          </a:stretch>
        </p:blipFill>
        <p:spPr>
          <a:xfrm>
            <a:off x="4053975" y="4645100"/>
            <a:ext cx="872146" cy="461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19"/>
          <p:cNvPicPr preferRelativeResize="0"/>
          <p:nvPr/>
        </p:nvPicPr>
        <p:blipFill>
          <a:blip r:embed="rId3">
            <a:alphaModFix/>
          </a:blip>
          <a:stretch>
            <a:fillRect/>
          </a:stretch>
        </p:blipFill>
        <p:spPr>
          <a:xfrm>
            <a:off x="338000" y="1950026"/>
            <a:ext cx="3487281" cy="2789825"/>
          </a:xfrm>
          <a:prstGeom prst="rect">
            <a:avLst/>
          </a:prstGeom>
          <a:noFill/>
          <a:ln>
            <a:noFill/>
          </a:ln>
        </p:spPr>
      </p:pic>
      <p:pic>
        <p:nvPicPr>
          <p:cNvPr id="159" name="Google Shape;159;p19"/>
          <p:cNvPicPr preferRelativeResize="0"/>
          <p:nvPr/>
        </p:nvPicPr>
        <p:blipFill>
          <a:blip r:embed="rId4">
            <a:alphaModFix/>
          </a:blip>
          <a:stretch>
            <a:fillRect/>
          </a:stretch>
        </p:blipFill>
        <p:spPr>
          <a:xfrm>
            <a:off x="5393676" y="1950025"/>
            <a:ext cx="3299325" cy="2789825"/>
          </a:xfrm>
          <a:prstGeom prst="rect">
            <a:avLst/>
          </a:prstGeom>
          <a:noFill/>
          <a:ln>
            <a:noFill/>
          </a:ln>
        </p:spPr>
      </p:pic>
      <p:sp>
        <p:nvSpPr>
          <p:cNvPr id="160" name="Google Shape;160;p19"/>
          <p:cNvSpPr txBox="1"/>
          <p:nvPr>
            <p:ph idx="4294967295" type="subTitle"/>
          </p:nvPr>
        </p:nvSpPr>
        <p:spPr>
          <a:xfrm>
            <a:off x="175325" y="1091325"/>
            <a:ext cx="4032300" cy="12693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Char char="●"/>
            </a:pPr>
            <a:r>
              <a:rPr lang="es" sz="1700">
                <a:solidFill>
                  <a:schemeClr val="lt1"/>
                </a:solidFill>
              </a:rPr>
              <a:t> </a:t>
            </a:r>
            <a:r>
              <a:rPr lang="es" sz="1700">
                <a:solidFill>
                  <a:schemeClr val="lt1"/>
                </a:solidFill>
              </a:rPr>
              <a:t>Las encuestas fueron hechas principalmente a personas jóvenes </a:t>
            </a:r>
            <a:endParaRPr sz="1700">
              <a:solidFill>
                <a:schemeClr val="lt1"/>
              </a:solidFill>
            </a:endParaRPr>
          </a:p>
        </p:txBody>
      </p:sp>
      <p:sp>
        <p:nvSpPr>
          <p:cNvPr id="161" name="Google Shape;161;p19"/>
          <p:cNvSpPr txBox="1"/>
          <p:nvPr>
            <p:ph type="title"/>
          </p:nvPr>
        </p:nvSpPr>
        <p:spPr>
          <a:xfrm>
            <a:off x="1276650" y="444825"/>
            <a:ext cx="1076400" cy="77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000" u="sng">
                <a:solidFill>
                  <a:schemeClr val="lt1"/>
                </a:solidFill>
              </a:rPr>
              <a:t>Edad</a:t>
            </a:r>
            <a:endParaRPr u="sng"/>
          </a:p>
        </p:txBody>
      </p:sp>
      <p:pic>
        <p:nvPicPr>
          <p:cNvPr id="162" name="Google Shape;162;p19"/>
          <p:cNvPicPr preferRelativeResize="0"/>
          <p:nvPr/>
        </p:nvPicPr>
        <p:blipFill>
          <a:blip r:embed="rId5">
            <a:alphaModFix/>
          </a:blip>
          <a:stretch>
            <a:fillRect/>
          </a:stretch>
        </p:blipFill>
        <p:spPr>
          <a:xfrm>
            <a:off x="4053975" y="4645100"/>
            <a:ext cx="872146" cy="461400"/>
          </a:xfrm>
          <a:prstGeom prst="rect">
            <a:avLst/>
          </a:prstGeom>
          <a:noFill/>
          <a:ln>
            <a:noFill/>
          </a:ln>
        </p:spPr>
      </p:pic>
      <p:sp>
        <p:nvSpPr>
          <p:cNvPr id="163" name="Google Shape;163;p19"/>
          <p:cNvSpPr txBox="1"/>
          <p:nvPr/>
        </p:nvSpPr>
        <p:spPr>
          <a:xfrm>
            <a:off x="4975525" y="1091325"/>
            <a:ext cx="4286100" cy="9696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lt1"/>
              </a:buClr>
              <a:buSzPts val="1700"/>
              <a:buFont typeface="Roboto"/>
              <a:buChar char="●"/>
            </a:pPr>
            <a:r>
              <a:rPr lang="es" sz="1700">
                <a:solidFill>
                  <a:schemeClr val="lt1"/>
                </a:solidFill>
                <a:latin typeface="Roboto"/>
                <a:ea typeface="Roboto"/>
                <a:cs typeface="Roboto"/>
                <a:sym typeface="Roboto"/>
              </a:rPr>
              <a:t>Altas tasas (4%/5%) hasta estallido crisis hipotecaria 2008, cuando se reducen a 1%/2%.</a:t>
            </a:r>
            <a:endParaRPr sz="1000">
              <a:solidFill>
                <a:schemeClr val="lt1"/>
              </a:solidFill>
            </a:endParaRPr>
          </a:p>
        </p:txBody>
      </p:sp>
      <p:sp>
        <p:nvSpPr>
          <p:cNvPr id="164" name="Google Shape;164;p19"/>
          <p:cNvSpPr txBox="1"/>
          <p:nvPr/>
        </p:nvSpPr>
        <p:spPr>
          <a:xfrm>
            <a:off x="5355250" y="444825"/>
            <a:ext cx="321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0" u="sng">
                <a:solidFill>
                  <a:schemeClr val="lt1"/>
                </a:solidFill>
                <a:latin typeface="Roboto"/>
                <a:ea typeface="Roboto"/>
                <a:cs typeface="Roboto"/>
                <a:sym typeface="Roboto"/>
              </a:rPr>
              <a:t>Tasa euribor (3m)</a:t>
            </a:r>
            <a:endParaRPr sz="4200" u="sng">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0"/>
          <p:cNvSpPr txBox="1"/>
          <p:nvPr>
            <p:ph type="title"/>
          </p:nvPr>
        </p:nvSpPr>
        <p:spPr>
          <a:xfrm>
            <a:off x="153975" y="1674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rPr>
              <a:t>Salto “Abrupto” del euribor 3m</a:t>
            </a:r>
            <a:endParaRPr>
              <a:solidFill>
                <a:schemeClr val="lt1"/>
              </a:solidFill>
            </a:endParaRPr>
          </a:p>
        </p:txBody>
      </p:sp>
      <p:pic>
        <p:nvPicPr>
          <p:cNvPr id="170" name="Google Shape;170;p20"/>
          <p:cNvPicPr preferRelativeResize="0"/>
          <p:nvPr/>
        </p:nvPicPr>
        <p:blipFill>
          <a:blip r:embed="rId3">
            <a:alphaModFix/>
          </a:blip>
          <a:stretch>
            <a:fillRect/>
          </a:stretch>
        </p:blipFill>
        <p:spPr>
          <a:xfrm>
            <a:off x="226775" y="855000"/>
            <a:ext cx="5841101" cy="3720750"/>
          </a:xfrm>
          <a:prstGeom prst="rect">
            <a:avLst/>
          </a:prstGeom>
          <a:noFill/>
          <a:ln>
            <a:noFill/>
          </a:ln>
        </p:spPr>
      </p:pic>
      <p:sp>
        <p:nvSpPr>
          <p:cNvPr id="171" name="Google Shape;171;p20"/>
          <p:cNvSpPr txBox="1"/>
          <p:nvPr/>
        </p:nvSpPr>
        <p:spPr>
          <a:xfrm>
            <a:off x="6224125" y="855000"/>
            <a:ext cx="2815800" cy="372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 sz="1600">
                <a:solidFill>
                  <a:schemeClr val="lt1"/>
                </a:solidFill>
                <a:latin typeface="Roboto"/>
                <a:ea typeface="Roboto"/>
                <a:cs typeface="Roboto"/>
                <a:sym typeface="Roboto"/>
              </a:rPr>
              <a:t>• </a:t>
            </a:r>
            <a:r>
              <a:rPr lang="es" sz="1300">
                <a:solidFill>
                  <a:schemeClr val="lt1"/>
                </a:solidFill>
              </a:rPr>
              <a:t>El Euribor a 3 meses desciende desde niveles cercanos al 5% hasta valores inferiores al 1%</a:t>
            </a:r>
            <a:br>
              <a:rPr lang="es" sz="1300">
                <a:solidFill>
                  <a:schemeClr val="lt1"/>
                </a:solidFill>
              </a:rPr>
            </a:br>
            <a:br>
              <a:rPr lang="es" sz="1300">
                <a:solidFill>
                  <a:schemeClr val="lt1"/>
                </a:solidFill>
              </a:rPr>
            </a:br>
            <a:r>
              <a:rPr b="1" lang="es" sz="1600">
                <a:solidFill>
                  <a:schemeClr val="lt1"/>
                </a:solidFill>
                <a:latin typeface="Roboto"/>
                <a:ea typeface="Roboto"/>
                <a:cs typeface="Roboto"/>
                <a:sym typeface="Roboto"/>
              </a:rPr>
              <a:t>• </a:t>
            </a:r>
            <a:r>
              <a:rPr lang="es" sz="1300">
                <a:solidFill>
                  <a:schemeClr val="lt1"/>
                </a:solidFill>
              </a:rPr>
              <a:t>Esta reducción de tasas disminuye la rentabilidad de los depósitos, por lo que </a:t>
            </a:r>
            <a:r>
              <a:rPr lang="es" sz="1300" u="sng">
                <a:solidFill>
                  <a:schemeClr val="lt1"/>
                </a:solidFill>
              </a:rPr>
              <a:t>puede influir en la probabilidad de suscripción</a:t>
            </a:r>
            <a:r>
              <a:rPr lang="es" sz="1300">
                <a:solidFill>
                  <a:schemeClr val="lt1"/>
                </a:solidFill>
              </a:rPr>
              <a:t> observada en el dataset.</a:t>
            </a:r>
            <a:endParaRPr sz="1300">
              <a:solidFill>
                <a:schemeClr val="lt1"/>
              </a:solidFill>
            </a:endParaRPr>
          </a:p>
          <a:p>
            <a:pPr indent="0" lvl="0" marL="0" rtl="0" algn="l">
              <a:lnSpc>
                <a:spcPct val="115000"/>
              </a:lnSpc>
              <a:spcBef>
                <a:spcPts val="1200"/>
              </a:spcBef>
              <a:spcAft>
                <a:spcPts val="0"/>
              </a:spcAft>
              <a:buNone/>
            </a:pPr>
            <a:r>
              <a:rPr b="1" lang="es" sz="1600">
                <a:solidFill>
                  <a:schemeClr val="lt1"/>
                </a:solidFill>
                <a:latin typeface="Roboto"/>
                <a:ea typeface="Roboto"/>
                <a:cs typeface="Roboto"/>
                <a:sym typeface="Roboto"/>
              </a:rPr>
              <a:t>• </a:t>
            </a:r>
            <a:r>
              <a:rPr lang="es" sz="1300">
                <a:solidFill>
                  <a:schemeClr val="lt1"/>
                </a:solidFill>
              </a:rPr>
              <a:t>La tendencia es clave para interpretar el comportamiento de los clientes durante las campañas.</a:t>
            </a:r>
            <a:endParaRPr sz="1300">
              <a:solidFill>
                <a:schemeClr val="lt1"/>
              </a:solidFill>
            </a:endParaRPr>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pic>
        <p:nvPicPr>
          <p:cNvPr id="172" name="Google Shape;172;p20"/>
          <p:cNvPicPr preferRelativeResize="0"/>
          <p:nvPr/>
        </p:nvPicPr>
        <p:blipFill>
          <a:blip r:embed="rId4">
            <a:alphaModFix/>
          </a:blip>
          <a:stretch>
            <a:fillRect/>
          </a:stretch>
        </p:blipFill>
        <p:spPr>
          <a:xfrm>
            <a:off x="4053975" y="4645100"/>
            <a:ext cx="872146" cy="461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1"/>
          <p:cNvSpPr txBox="1"/>
          <p:nvPr>
            <p:ph type="title"/>
          </p:nvPr>
        </p:nvSpPr>
        <p:spPr>
          <a:xfrm>
            <a:off x="176750" y="219897"/>
            <a:ext cx="8222100" cy="8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3800"/>
              <a:t>Outliers y Datos Faltantes</a:t>
            </a:r>
            <a:endParaRPr sz="3800"/>
          </a:p>
        </p:txBody>
      </p:sp>
      <p:graphicFrame>
        <p:nvGraphicFramePr>
          <p:cNvPr id="178" name="Google Shape;178;p21"/>
          <p:cNvGraphicFramePr/>
          <p:nvPr/>
        </p:nvGraphicFramePr>
        <p:xfrm>
          <a:off x="1166200" y="1058700"/>
          <a:ext cx="3000000" cy="3000000"/>
        </p:xfrm>
        <a:graphic>
          <a:graphicData uri="http://schemas.openxmlformats.org/drawingml/2006/table">
            <a:tbl>
              <a:tblPr>
                <a:noFill/>
                <a:tableStyleId>{54432298-44AA-43B7-81A2-1A34807E1097}</a:tableStyleId>
              </a:tblPr>
              <a:tblGrid>
                <a:gridCol w="1690700"/>
                <a:gridCol w="1617850"/>
                <a:gridCol w="2740125"/>
              </a:tblGrid>
              <a:tr h="625900">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Variable</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Datos Faltantes</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Presencia de outliers (IQR)</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625900">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Tipo de contacto</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NO</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NO</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394225">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Mes</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NO</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NO</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394225">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Edad</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NO</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SI (469)</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394225">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Duración</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SI</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SI (2955)</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394225">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Euribor</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NO</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NO</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625900">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Suscripción a deposito</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NO</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s" sz="1900">
                          <a:solidFill>
                            <a:schemeClr val="lt1"/>
                          </a:solidFill>
                          <a:latin typeface="Roboto"/>
                          <a:ea typeface="Roboto"/>
                          <a:cs typeface="Roboto"/>
                          <a:sym typeface="Roboto"/>
                        </a:rPr>
                        <a:t>NO</a:t>
                      </a:r>
                      <a:endParaRPr b="1" sz="1900">
                        <a:solidFill>
                          <a:schemeClr val="lt1"/>
                        </a:solidFill>
                        <a:latin typeface="Roboto"/>
                        <a:ea typeface="Roboto"/>
                        <a:cs typeface="Roboto"/>
                        <a:sym typeface="Roboto"/>
                      </a:endParaRPr>
                    </a:p>
                  </a:txBody>
                  <a:tcPr marT="63500" marB="63500" marR="63500" marL="6350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nvSpPr>
        <p:spPr>
          <a:xfrm>
            <a:off x="496750" y="949975"/>
            <a:ext cx="7947000" cy="38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FFFF"/>
              </a:solidFill>
              <a:latin typeface="Roboto"/>
              <a:ea typeface="Roboto"/>
              <a:cs typeface="Roboto"/>
              <a:sym typeface="Roboto"/>
            </a:endParaRPr>
          </a:p>
          <a:p>
            <a:pPr indent="-342900" lvl="0" marL="457200" rtl="0" algn="l">
              <a:spcBef>
                <a:spcPts val="0"/>
              </a:spcBef>
              <a:spcAft>
                <a:spcPts val="0"/>
              </a:spcAft>
              <a:buClr>
                <a:srgbClr val="FFFFFF"/>
              </a:buClr>
              <a:buSzPts val="1800"/>
              <a:buFont typeface="Roboto"/>
              <a:buChar char="●"/>
            </a:pPr>
            <a:r>
              <a:rPr lang="es" sz="1800">
                <a:solidFill>
                  <a:srgbClr val="FFFFFF"/>
                </a:solidFill>
                <a:latin typeface="Roboto"/>
                <a:ea typeface="Roboto"/>
                <a:cs typeface="Roboto"/>
                <a:sym typeface="Roboto"/>
              </a:rPr>
              <a:t>E</a:t>
            </a:r>
            <a:r>
              <a:rPr lang="es" sz="1800">
                <a:solidFill>
                  <a:srgbClr val="FFFFFF"/>
                </a:solidFill>
                <a:latin typeface="Roboto"/>
                <a:ea typeface="Roboto"/>
                <a:cs typeface="Roboto"/>
                <a:sym typeface="Roboto"/>
              </a:rPr>
              <a:t>liminamos las llamadas con duración de 0 a 5 segundos, consideramos que no son relevantes para el análisis, ya que no es posible que haya una interacción significativa entre encuestado y encuestador.</a:t>
            </a:r>
            <a:endParaRPr sz="1800">
              <a:solidFill>
                <a:srgbClr val="FFFFFF"/>
              </a:solidFill>
              <a:latin typeface="Roboto"/>
              <a:ea typeface="Roboto"/>
              <a:cs typeface="Roboto"/>
              <a:sym typeface="Roboto"/>
            </a:endParaRPr>
          </a:p>
          <a:p>
            <a:pPr indent="0" lvl="0" marL="457200" rtl="0" algn="l">
              <a:spcBef>
                <a:spcPts val="0"/>
              </a:spcBef>
              <a:spcAft>
                <a:spcPts val="0"/>
              </a:spcAft>
              <a:buNone/>
            </a:pPr>
            <a:r>
              <a:t/>
            </a:r>
            <a:endParaRPr sz="1800">
              <a:solidFill>
                <a:srgbClr val="FFFFFF"/>
              </a:solidFill>
              <a:latin typeface="Roboto"/>
              <a:ea typeface="Roboto"/>
              <a:cs typeface="Roboto"/>
              <a:sym typeface="Roboto"/>
            </a:endParaRPr>
          </a:p>
          <a:p>
            <a:pPr indent="-342900" lvl="0" marL="457200" rtl="0" algn="l">
              <a:spcBef>
                <a:spcPts val="0"/>
              </a:spcBef>
              <a:spcAft>
                <a:spcPts val="0"/>
              </a:spcAft>
              <a:buClr>
                <a:srgbClr val="FFFFFF"/>
              </a:buClr>
              <a:buSzPts val="1800"/>
              <a:buFont typeface="Roboto"/>
              <a:buChar char="●"/>
            </a:pPr>
            <a:r>
              <a:rPr lang="es" sz="1800">
                <a:solidFill>
                  <a:srgbClr val="FFFFFF"/>
                </a:solidFill>
                <a:latin typeface="Roboto"/>
                <a:ea typeface="Roboto"/>
                <a:cs typeface="Roboto"/>
                <a:sym typeface="Roboto"/>
              </a:rPr>
              <a:t>Los outliers son determinantes e influyentes en el análisis, con el método IQR más de un 7% de la muestra es considerada outlier.</a:t>
            </a:r>
            <a:endParaRPr sz="1800">
              <a:solidFill>
                <a:srgbClr val="FFFFFF"/>
              </a:solidFill>
              <a:latin typeface="Roboto"/>
              <a:ea typeface="Roboto"/>
              <a:cs typeface="Roboto"/>
              <a:sym typeface="Roboto"/>
            </a:endParaRPr>
          </a:p>
          <a:p>
            <a:pPr indent="0" lvl="0" marL="457200" rtl="0" algn="l">
              <a:spcBef>
                <a:spcPts val="0"/>
              </a:spcBef>
              <a:spcAft>
                <a:spcPts val="0"/>
              </a:spcAft>
              <a:buNone/>
            </a:pPr>
            <a:r>
              <a:t/>
            </a:r>
            <a:endParaRPr sz="1800">
              <a:solidFill>
                <a:srgbClr val="FFFFFF"/>
              </a:solidFill>
              <a:latin typeface="Roboto"/>
              <a:ea typeface="Roboto"/>
              <a:cs typeface="Roboto"/>
              <a:sym typeface="Roboto"/>
            </a:endParaRPr>
          </a:p>
          <a:p>
            <a:pPr indent="-342900" lvl="0" marL="457200" rtl="0" algn="l">
              <a:spcBef>
                <a:spcPts val="0"/>
              </a:spcBef>
              <a:spcAft>
                <a:spcPts val="0"/>
              </a:spcAft>
              <a:buClr>
                <a:srgbClr val="FFFFFF"/>
              </a:buClr>
              <a:buSzPts val="1800"/>
              <a:buFont typeface="Roboto"/>
              <a:buChar char="●"/>
            </a:pPr>
            <a:r>
              <a:rPr lang="es" sz="1800">
                <a:solidFill>
                  <a:srgbClr val="FFFFFF"/>
                </a:solidFill>
                <a:latin typeface="Roboto"/>
                <a:ea typeface="Roboto"/>
                <a:cs typeface="Roboto"/>
                <a:sym typeface="Roboto"/>
              </a:rPr>
              <a:t>Eliminarlos produciría un sesgo en el efecto causal o predictivo investigado, además, el efecto de una larga duración de la llamada es de pleno interés . Optamos por una winterization al 99%.</a:t>
            </a:r>
            <a:br>
              <a:rPr lang="es" sz="1800">
                <a:solidFill>
                  <a:srgbClr val="FFFFFF"/>
                </a:solidFill>
                <a:latin typeface="Roboto"/>
                <a:ea typeface="Roboto"/>
                <a:cs typeface="Roboto"/>
                <a:sym typeface="Roboto"/>
              </a:rPr>
            </a:br>
            <a:endParaRPr sz="1800">
              <a:solidFill>
                <a:srgbClr val="FFFFFF"/>
              </a:solidFill>
              <a:latin typeface="Roboto"/>
              <a:ea typeface="Roboto"/>
              <a:cs typeface="Roboto"/>
              <a:sym typeface="Roboto"/>
            </a:endParaRPr>
          </a:p>
        </p:txBody>
      </p:sp>
      <p:sp>
        <p:nvSpPr>
          <p:cNvPr id="184" name="Google Shape;184;p22"/>
          <p:cNvSpPr txBox="1"/>
          <p:nvPr/>
        </p:nvSpPr>
        <p:spPr>
          <a:xfrm>
            <a:off x="496750" y="322375"/>
            <a:ext cx="6704100" cy="7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800">
                <a:solidFill>
                  <a:schemeClr val="lt1"/>
                </a:solidFill>
                <a:latin typeface="Roboto"/>
                <a:ea typeface="Roboto"/>
                <a:cs typeface="Roboto"/>
                <a:sym typeface="Roboto"/>
              </a:rPr>
              <a:t>Análisis</a:t>
            </a:r>
            <a:r>
              <a:rPr lang="es" sz="2800">
                <a:solidFill>
                  <a:schemeClr val="lt1"/>
                </a:solidFill>
                <a:latin typeface="Roboto"/>
                <a:ea typeface="Roboto"/>
                <a:cs typeface="Roboto"/>
                <a:sym typeface="Roboto"/>
              </a:rPr>
              <a:t> y decisiones concretas</a:t>
            </a:r>
            <a:endParaRPr sz="2800">
              <a:solidFill>
                <a:schemeClr val="lt1"/>
              </a:solidFill>
              <a:latin typeface="Roboto"/>
              <a:ea typeface="Roboto"/>
              <a:cs typeface="Roboto"/>
              <a:sym typeface="Roboto"/>
            </a:endParaRPr>
          </a:p>
        </p:txBody>
      </p:sp>
      <p:pic>
        <p:nvPicPr>
          <p:cNvPr id="185" name="Google Shape;185;p22"/>
          <p:cNvPicPr preferRelativeResize="0"/>
          <p:nvPr/>
        </p:nvPicPr>
        <p:blipFill>
          <a:blip r:embed="rId3">
            <a:alphaModFix/>
          </a:blip>
          <a:stretch>
            <a:fillRect/>
          </a:stretch>
        </p:blipFill>
        <p:spPr>
          <a:xfrm>
            <a:off x="4053975" y="4645100"/>
            <a:ext cx="872146" cy="461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txBox="1"/>
          <p:nvPr>
            <p:ph type="ctrTitle"/>
          </p:nvPr>
        </p:nvSpPr>
        <p:spPr>
          <a:xfrm>
            <a:off x="277775" y="101347"/>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sz="3200"/>
              <a:t>Evaluación de impacto</a:t>
            </a:r>
            <a:endParaRPr sz="3200"/>
          </a:p>
        </p:txBody>
      </p:sp>
      <p:pic>
        <p:nvPicPr>
          <p:cNvPr id="191" name="Google Shape;191;p23" title="Evaluación impacto.jpeg"/>
          <p:cNvPicPr preferRelativeResize="0"/>
          <p:nvPr/>
        </p:nvPicPr>
        <p:blipFill>
          <a:blip r:embed="rId3">
            <a:alphaModFix/>
          </a:blip>
          <a:stretch>
            <a:fillRect/>
          </a:stretch>
        </p:blipFill>
        <p:spPr>
          <a:xfrm>
            <a:off x="4217225" y="1682725"/>
            <a:ext cx="3532100" cy="2749850"/>
          </a:xfrm>
          <a:prstGeom prst="rect">
            <a:avLst/>
          </a:prstGeom>
          <a:noFill/>
          <a:ln>
            <a:noFill/>
          </a:ln>
        </p:spPr>
      </p:pic>
      <p:pic>
        <p:nvPicPr>
          <p:cNvPr id="192" name="Google Shape;192;p23" title="distribucion con outliers-3.jpeg"/>
          <p:cNvPicPr preferRelativeResize="0"/>
          <p:nvPr/>
        </p:nvPicPr>
        <p:blipFill>
          <a:blip r:embed="rId4">
            <a:alphaModFix/>
          </a:blip>
          <a:stretch>
            <a:fillRect/>
          </a:stretch>
        </p:blipFill>
        <p:spPr>
          <a:xfrm>
            <a:off x="460950" y="1682725"/>
            <a:ext cx="3039694" cy="2749850"/>
          </a:xfrm>
          <a:prstGeom prst="rect">
            <a:avLst/>
          </a:prstGeom>
          <a:noFill/>
          <a:ln>
            <a:noFill/>
          </a:ln>
        </p:spPr>
      </p:pic>
      <p:sp>
        <p:nvSpPr>
          <p:cNvPr id="193" name="Google Shape;193;p23"/>
          <p:cNvSpPr txBox="1"/>
          <p:nvPr/>
        </p:nvSpPr>
        <p:spPr>
          <a:xfrm>
            <a:off x="277775" y="940150"/>
            <a:ext cx="253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u="sng">
                <a:solidFill>
                  <a:schemeClr val="lt1"/>
                </a:solidFill>
                <a:latin typeface="Roboto"/>
                <a:ea typeface="Roboto"/>
                <a:cs typeface="Roboto"/>
                <a:sym typeface="Roboto"/>
              </a:rPr>
              <a:t>Sin procesar (Raw)</a:t>
            </a:r>
            <a:endParaRPr sz="1800" u="sng">
              <a:solidFill>
                <a:schemeClr val="lt1"/>
              </a:solidFill>
              <a:latin typeface="Roboto"/>
              <a:ea typeface="Roboto"/>
              <a:cs typeface="Roboto"/>
              <a:sym typeface="Roboto"/>
            </a:endParaRPr>
          </a:p>
        </p:txBody>
      </p:sp>
      <p:sp>
        <p:nvSpPr>
          <p:cNvPr id="194" name="Google Shape;194;p23"/>
          <p:cNvSpPr txBox="1"/>
          <p:nvPr/>
        </p:nvSpPr>
        <p:spPr>
          <a:xfrm>
            <a:off x="4424825" y="981250"/>
            <a:ext cx="2530500" cy="37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u="sng">
                <a:solidFill>
                  <a:srgbClr val="FFFFFF"/>
                </a:solidFill>
                <a:latin typeface="Roboto"/>
                <a:ea typeface="Roboto"/>
                <a:cs typeface="Roboto"/>
                <a:sym typeface="Roboto"/>
              </a:rPr>
              <a:t>W</a:t>
            </a:r>
            <a:r>
              <a:rPr lang="es" sz="1800" u="sng">
                <a:solidFill>
                  <a:srgbClr val="FFFFFF"/>
                </a:solidFill>
                <a:latin typeface="Roboto"/>
                <a:ea typeface="Roboto"/>
                <a:cs typeface="Roboto"/>
                <a:sym typeface="Roboto"/>
              </a:rPr>
              <a:t>interization </a:t>
            </a:r>
            <a:endParaRPr sz="1800" u="sng">
              <a:solidFill>
                <a:schemeClr val="lt1"/>
              </a:solidFill>
              <a:latin typeface="Roboto"/>
              <a:ea typeface="Roboto"/>
              <a:cs typeface="Roboto"/>
              <a:sym typeface="Roboto"/>
            </a:endParaRPr>
          </a:p>
        </p:txBody>
      </p:sp>
      <p:pic>
        <p:nvPicPr>
          <p:cNvPr id="195" name="Google Shape;195;p23"/>
          <p:cNvPicPr preferRelativeResize="0"/>
          <p:nvPr/>
        </p:nvPicPr>
        <p:blipFill>
          <a:blip r:embed="rId5">
            <a:alphaModFix/>
          </a:blip>
          <a:stretch>
            <a:fillRect/>
          </a:stretch>
        </p:blipFill>
        <p:spPr>
          <a:xfrm>
            <a:off x="4053975" y="4645100"/>
            <a:ext cx="872146" cy="461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4"/>
          <p:cNvSpPr txBox="1"/>
          <p:nvPr/>
        </p:nvSpPr>
        <p:spPr>
          <a:xfrm>
            <a:off x="1536750" y="585825"/>
            <a:ext cx="5316900" cy="10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201" name="Google Shape;201;p24"/>
          <p:cNvSpPr txBox="1"/>
          <p:nvPr/>
        </p:nvSpPr>
        <p:spPr>
          <a:xfrm>
            <a:off x="527375" y="429175"/>
            <a:ext cx="6455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4200">
                <a:solidFill>
                  <a:schemeClr val="lt1"/>
                </a:solidFill>
                <a:latin typeface="Roboto"/>
                <a:ea typeface="Roboto"/>
                <a:cs typeface="Roboto"/>
                <a:sym typeface="Roboto"/>
              </a:rPr>
              <a:t>Sin cambios relevantes</a:t>
            </a:r>
            <a:endParaRPr/>
          </a:p>
        </p:txBody>
      </p:sp>
      <p:pic>
        <p:nvPicPr>
          <p:cNvPr id="202" name="Google Shape;202;p24"/>
          <p:cNvPicPr preferRelativeResize="0"/>
          <p:nvPr/>
        </p:nvPicPr>
        <p:blipFill>
          <a:blip r:embed="rId3">
            <a:alphaModFix/>
          </a:blip>
          <a:stretch>
            <a:fillRect/>
          </a:stretch>
        </p:blipFill>
        <p:spPr>
          <a:xfrm>
            <a:off x="611300" y="1783775"/>
            <a:ext cx="3872225" cy="2619097"/>
          </a:xfrm>
          <a:prstGeom prst="rect">
            <a:avLst/>
          </a:prstGeom>
          <a:noFill/>
          <a:ln>
            <a:noFill/>
          </a:ln>
        </p:spPr>
      </p:pic>
      <p:pic>
        <p:nvPicPr>
          <p:cNvPr id="203" name="Google Shape;203;p24"/>
          <p:cNvPicPr preferRelativeResize="0"/>
          <p:nvPr/>
        </p:nvPicPr>
        <p:blipFill>
          <a:blip r:embed="rId4">
            <a:alphaModFix/>
          </a:blip>
          <a:stretch>
            <a:fillRect/>
          </a:stretch>
        </p:blipFill>
        <p:spPr>
          <a:xfrm>
            <a:off x="4891900" y="1783775"/>
            <a:ext cx="3872225" cy="2619088"/>
          </a:xfrm>
          <a:prstGeom prst="rect">
            <a:avLst/>
          </a:prstGeom>
          <a:noFill/>
          <a:ln>
            <a:noFill/>
          </a:ln>
        </p:spPr>
      </p:pic>
      <p:sp>
        <p:nvSpPr>
          <p:cNvPr id="204" name="Google Shape;204;p24"/>
          <p:cNvSpPr txBox="1"/>
          <p:nvPr/>
        </p:nvSpPr>
        <p:spPr>
          <a:xfrm>
            <a:off x="527375" y="1291275"/>
            <a:ext cx="253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u="sng">
                <a:solidFill>
                  <a:schemeClr val="lt1"/>
                </a:solidFill>
                <a:latin typeface="Roboto"/>
                <a:ea typeface="Roboto"/>
                <a:cs typeface="Roboto"/>
                <a:sym typeface="Roboto"/>
              </a:rPr>
              <a:t>Sin procesar</a:t>
            </a:r>
            <a:endParaRPr sz="1800" u="sng">
              <a:solidFill>
                <a:schemeClr val="lt1"/>
              </a:solidFill>
              <a:latin typeface="Roboto"/>
              <a:ea typeface="Roboto"/>
              <a:cs typeface="Roboto"/>
              <a:sym typeface="Roboto"/>
            </a:endParaRPr>
          </a:p>
        </p:txBody>
      </p:sp>
      <p:sp>
        <p:nvSpPr>
          <p:cNvPr id="205" name="Google Shape;205;p24"/>
          <p:cNvSpPr txBox="1"/>
          <p:nvPr/>
        </p:nvSpPr>
        <p:spPr>
          <a:xfrm>
            <a:off x="4217225" y="1260475"/>
            <a:ext cx="2530500" cy="37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rgbClr val="FFFFFF"/>
                </a:solidFill>
                <a:latin typeface="Roboto"/>
                <a:ea typeface="Roboto"/>
                <a:cs typeface="Roboto"/>
                <a:sym typeface="Roboto"/>
              </a:rPr>
              <a:t>           </a:t>
            </a:r>
            <a:r>
              <a:rPr lang="es" sz="1800" u="sng">
                <a:solidFill>
                  <a:srgbClr val="FFFFFF"/>
                </a:solidFill>
                <a:latin typeface="Roboto"/>
                <a:ea typeface="Roboto"/>
                <a:cs typeface="Roboto"/>
                <a:sym typeface="Roboto"/>
              </a:rPr>
              <a:t>Winterization </a:t>
            </a:r>
            <a:endParaRPr sz="1800" u="sng">
              <a:solidFill>
                <a:schemeClr val="lt1"/>
              </a:solidFill>
              <a:latin typeface="Roboto"/>
              <a:ea typeface="Roboto"/>
              <a:cs typeface="Roboto"/>
              <a:sym typeface="Roboto"/>
            </a:endParaRPr>
          </a:p>
        </p:txBody>
      </p:sp>
      <p:pic>
        <p:nvPicPr>
          <p:cNvPr id="206" name="Google Shape;206;p24"/>
          <p:cNvPicPr preferRelativeResize="0"/>
          <p:nvPr/>
        </p:nvPicPr>
        <p:blipFill>
          <a:blip r:embed="rId5">
            <a:alphaModFix/>
          </a:blip>
          <a:stretch>
            <a:fillRect/>
          </a:stretch>
        </p:blipFill>
        <p:spPr>
          <a:xfrm>
            <a:off x="4053975" y="4645100"/>
            <a:ext cx="872146" cy="461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type="ctrTitle"/>
          </p:nvPr>
        </p:nvSpPr>
        <p:spPr>
          <a:xfrm>
            <a:off x="243575" y="173597"/>
            <a:ext cx="8222100" cy="838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Tests de </a:t>
            </a:r>
            <a:r>
              <a:rPr lang="es"/>
              <a:t>Hipótesis</a:t>
            </a:r>
            <a:r>
              <a:rPr lang="es"/>
              <a:t> y </a:t>
            </a:r>
            <a:r>
              <a:rPr lang="es"/>
              <a:t>Regresión</a:t>
            </a:r>
            <a:endParaRPr/>
          </a:p>
        </p:txBody>
      </p:sp>
      <p:sp>
        <p:nvSpPr>
          <p:cNvPr id="212" name="Google Shape;212;p25"/>
          <p:cNvSpPr txBox="1"/>
          <p:nvPr/>
        </p:nvSpPr>
        <p:spPr>
          <a:xfrm>
            <a:off x="223350" y="1156525"/>
            <a:ext cx="8787000" cy="9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lt1"/>
                </a:solidFill>
                <a:latin typeface="Roboto"/>
                <a:ea typeface="Roboto"/>
                <a:cs typeface="Roboto"/>
                <a:sym typeface="Roboto"/>
              </a:rPr>
              <a:t>Testeamos la significatividad individual de los coeficientes de </a:t>
            </a:r>
            <a:r>
              <a:rPr lang="es" sz="2000">
                <a:solidFill>
                  <a:schemeClr val="lt1"/>
                </a:solidFill>
                <a:latin typeface="Roboto"/>
                <a:ea typeface="Roboto"/>
                <a:cs typeface="Roboto"/>
                <a:sym typeface="Roboto"/>
              </a:rPr>
              <a:t>interés</a:t>
            </a:r>
            <a:r>
              <a:rPr lang="es" sz="2000">
                <a:solidFill>
                  <a:schemeClr val="lt1"/>
                </a:solidFill>
                <a:latin typeface="Roboto"/>
                <a:ea typeface="Roboto"/>
                <a:cs typeface="Roboto"/>
                <a:sym typeface="Roboto"/>
              </a:rPr>
              <a:t> mediante una prueba T, evaluando si las variables explicativas aportan información al modelo.</a:t>
            </a:r>
            <a:endParaRPr sz="2000">
              <a:solidFill>
                <a:schemeClr val="lt1"/>
              </a:solidFill>
              <a:latin typeface="Roboto"/>
              <a:ea typeface="Roboto"/>
              <a:cs typeface="Roboto"/>
              <a:sym typeface="Roboto"/>
            </a:endParaRPr>
          </a:p>
          <a:p>
            <a:pPr indent="0" lvl="0" marL="0" rtl="0" algn="l">
              <a:spcBef>
                <a:spcPts val="0"/>
              </a:spcBef>
              <a:spcAft>
                <a:spcPts val="0"/>
              </a:spcAft>
              <a:buNone/>
            </a:pPr>
            <a:r>
              <a:t/>
            </a:r>
            <a:endParaRPr sz="2400" u="sng">
              <a:solidFill>
                <a:schemeClr val="lt1"/>
              </a:solidFill>
              <a:latin typeface="Roboto"/>
              <a:ea typeface="Roboto"/>
              <a:cs typeface="Roboto"/>
              <a:sym typeface="Roboto"/>
            </a:endParaRPr>
          </a:p>
          <a:p>
            <a:pPr indent="0" lvl="0" marL="0" rtl="0" algn="l">
              <a:spcBef>
                <a:spcPts val="0"/>
              </a:spcBef>
              <a:spcAft>
                <a:spcPts val="0"/>
              </a:spcAft>
              <a:buNone/>
            </a:pPr>
            <a:r>
              <a:t/>
            </a:r>
            <a:endParaRPr sz="2000">
              <a:solidFill>
                <a:schemeClr val="lt1"/>
              </a:solidFill>
              <a:latin typeface="Roboto"/>
              <a:ea typeface="Roboto"/>
              <a:cs typeface="Roboto"/>
              <a:sym typeface="Roboto"/>
            </a:endParaRPr>
          </a:p>
          <a:p>
            <a:pPr indent="0" lvl="0" marL="0" rtl="0" algn="l">
              <a:spcBef>
                <a:spcPts val="0"/>
              </a:spcBef>
              <a:spcAft>
                <a:spcPts val="0"/>
              </a:spcAft>
              <a:buNone/>
            </a:pPr>
            <a:r>
              <a:t/>
            </a:r>
            <a:endParaRPr sz="2400" u="sng">
              <a:solidFill>
                <a:schemeClr val="lt1"/>
              </a:solidFill>
              <a:latin typeface="Roboto"/>
              <a:ea typeface="Roboto"/>
              <a:cs typeface="Roboto"/>
              <a:sym typeface="Roboto"/>
            </a:endParaRPr>
          </a:p>
          <a:p>
            <a:pPr indent="0" lvl="0" marL="0" rtl="0" algn="l">
              <a:spcBef>
                <a:spcPts val="0"/>
              </a:spcBef>
              <a:spcAft>
                <a:spcPts val="0"/>
              </a:spcAft>
              <a:buNone/>
            </a:pPr>
            <a:r>
              <a:t/>
            </a:r>
            <a:endParaRPr sz="2400" u="sng">
              <a:solidFill>
                <a:schemeClr val="lt1"/>
              </a:solidFill>
              <a:latin typeface="Roboto"/>
              <a:ea typeface="Roboto"/>
              <a:cs typeface="Roboto"/>
              <a:sym typeface="Roboto"/>
            </a:endParaRPr>
          </a:p>
        </p:txBody>
      </p:sp>
      <p:sp>
        <p:nvSpPr>
          <p:cNvPr id="213" name="Google Shape;213;p25"/>
          <p:cNvSpPr txBox="1"/>
          <p:nvPr/>
        </p:nvSpPr>
        <p:spPr>
          <a:xfrm>
            <a:off x="223350" y="2429825"/>
            <a:ext cx="8787000" cy="55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100">
                <a:solidFill>
                  <a:schemeClr val="lt1"/>
                </a:solidFill>
                <a:latin typeface="Roboto"/>
                <a:ea typeface="Roboto"/>
                <a:cs typeface="Roboto"/>
                <a:sym typeface="Roboto"/>
              </a:rPr>
              <a:t>Suscribeᵢ = β₀ + β₁ Duraciónᵢ + β₂ Edadᵢ + β₃ Tasaᵢ + β₄ ContactoTelᵢ + uᵢ</a:t>
            </a:r>
            <a:endParaRPr b="1" sz="1900">
              <a:solidFill>
                <a:schemeClr val="dk2"/>
              </a:solidFill>
              <a:latin typeface="Roboto"/>
              <a:ea typeface="Roboto"/>
              <a:cs typeface="Roboto"/>
              <a:sym typeface="Roboto"/>
            </a:endParaRPr>
          </a:p>
        </p:txBody>
      </p:sp>
      <p:sp>
        <p:nvSpPr>
          <p:cNvPr id="214" name="Google Shape;214;p25"/>
          <p:cNvSpPr txBox="1"/>
          <p:nvPr/>
        </p:nvSpPr>
        <p:spPr>
          <a:xfrm>
            <a:off x="243575" y="3267225"/>
            <a:ext cx="7284600" cy="172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None/>
            </a:pPr>
            <a:r>
              <a:rPr lang="es">
                <a:solidFill>
                  <a:schemeClr val="lt1"/>
                </a:solidFill>
                <a:latin typeface="Roboto"/>
                <a:ea typeface="Roboto"/>
                <a:cs typeface="Roboto"/>
                <a:sym typeface="Roboto"/>
              </a:rPr>
              <a:t>Suscribeᵢ: (1 = suscribió al </a:t>
            </a:r>
            <a:r>
              <a:rPr lang="es">
                <a:solidFill>
                  <a:schemeClr val="lt1"/>
                </a:solidFill>
                <a:latin typeface="Roboto"/>
                <a:ea typeface="Roboto"/>
                <a:cs typeface="Roboto"/>
                <a:sym typeface="Roboto"/>
              </a:rPr>
              <a:t>depósito</a:t>
            </a:r>
            <a:r>
              <a:rPr lang="es">
                <a:solidFill>
                  <a:schemeClr val="lt1"/>
                </a:solidFill>
                <a:latin typeface="Roboto"/>
                <a:ea typeface="Roboto"/>
                <a:cs typeface="Roboto"/>
                <a:sym typeface="Roboto"/>
              </a:rPr>
              <a:t>, 0 = no)</a:t>
            </a:r>
            <a:endParaRPr>
              <a:solidFill>
                <a:schemeClr val="lt1"/>
              </a:solidFill>
              <a:latin typeface="Roboto"/>
              <a:ea typeface="Roboto"/>
              <a:cs typeface="Roboto"/>
              <a:sym typeface="Roboto"/>
            </a:endParaRPr>
          </a:p>
          <a:p>
            <a:pPr indent="0" lvl="0" marL="0" rtl="0" algn="l">
              <a:lnSpc>
                <a:spcPct val="100000"/>
              </a:lnSpc>
              <a:spcBef>
                <a:spcPts val="800"/>
              </a:spcBef>
              <a:spcAft>
                <a:spcPts val="0"/>
              </a:spcAft>
              <a:buNone/>
            </a:pPr>
            <a:r>
              <a:rPr lang="es">
                <a:solidFill>
                  <a:schemeClr val="lt1"/>
                </a:solidFill>
                <a:latin typeface="Roboto"/>
                <a:ea typeface="Roboto"/>
                <a:cs typeface="Roboto"/>
                <a:sym typeface="Roboto"/>
              </a:rPr>
              <a:t>Duraciónᵢ: duración del depósito</a:t>
            </a:r>
            <a:endParaRPr>
              <a:solidFill>
                <a:schemeClr val="lt1"/>
              </a:solidFill>
              <a:latin typeface="Roboto"/>
              <a:ea typeface="Roboto"/>
              <a:cs typeface="Roboto"/>
              <a:sym typeface="Roboto"/>
            </a:endParaRPr>
          </a:p>
          <a:p>
            <a:pPr indent="0" lvl="0" marL="0" rtl="0" algn="l">
              <a:lnSpc>
                <a:spcPct val="100000"/>
              </a:lnSpc>
              <a:spcBef>
                <a:spcPts val="800"/>
              </a:spcBef>
              <a:spcAft>
                <a:spcPts val="0"/>
              </a:spcAft>
              <a:buNone/>
            </a:pPr>
            <a:r>
              <a:rPr lang="es">
                <a:solidFill>
                  <a:schemeClr val="lt1"/>
                </a:solidFill>
                <a:latin typeface="Roboto"/>
                <a:ea typeface="Roboto"/>
                <a:cs typeface="Roboto"/>
                <a:sym typeface="Roboto"/>
              </a:rPr>
              <a:t>Edadᵢ: edad del cliente</a:t>
            </a:r>
            <a:endParaRPr>
              <a:solidFill>
                <a:schemeClr val="lt1"/>
              </a:solidFill>
              <a:latin typeface="Roboto"/>
              <a:ea typeface="Roboto"/>
              <a:cs typeface="Roboto"/>
              <a:sym typeface="Roboto"/>
            </a:endParaRPr>
          </a:p>
          <a:p>
            <a:pPr indent="0" lvl="0" marL="0" rtl="0" algn="l">
              <a:lnSpc>
                <a:spcPct val="100000"/>
              </a:lnSpc>
              <a:spcBef>
                <a:spcPts val="800"/>
              </a:spcBef>
              <a:spcAft>
                <a:spcPts val="0"/>
              </a:spcAft>
              <a:buNone/>
            </a:pPr>
            <a:r>
              <a:rPr lang="es">
                <a:solidFill>
                  <a:schemeClr val="lt1"/>
                </a:solidFill>
                <a:latin typeface="Roboto"/>
                <a:ea typeface="Roboto"/>
                <a:cs typeface="Roboto"/>
                <a:sym typeface="Roboto"/>
              </a:rPr>
              <a:t>Tasaᵢ: tasa de interés euribor 3 meses (anual)</a:t>
            </a:r>
            <a:endParaRPr>
              <a:solidFill>
                <a:schemeClr val="lt1"/>
              </a:solidFill>
              <a:latin typeface="Roboto"/>
              <a:ea typeface="Roboto"/>
              <a:cs typeface="Roboto"/>
              <a:sym typeface="Roboto"/>
            </a:endParaRPr>
          </a:p>
          <a:p>
            <a:pPr indent="0" lvl="0" marL="0" rtl="0" algn="l">
              <a:lnSpc>
                <a:spcPct val="100000"/>
              </a:lnSpc>
              <a:spcBef>
                <a:spcPts val="800"/>
              </a:spcBef>
              <a:spcAft>
                <a:spcPts val="0"/>
              </a:spcAft>
              <a:buNone/>
            </a:pPr>
            <a:r>
              <a:rPr lang="es">
                <a:solidFill>
                  <a:schemeClr val="lt1"/>
                </a:solidFill>
                <a:latin typeface="Roboto"/>
                <a:ea typeface="Roboto"/>
                <a:cs typeface="Roboto"/>
                <a:sym typeface="Roboto"/>
              </a:rPr>
              <a:t>ContactoTelᵢ: dummy (1 = contacto telefónico)</a:t>
            </a:r>
            <a:endParaRPr sz="2200">
              <a:solidFill>
                <a:schemeClr val="dk2"/>
              </a:solidFill>
              <a:latin typeface="Roboto"/>
              <a:ea typeface="Roboto"/>
              <a:cs typeface="Roboto"/>
              <a:sym typeface="Roboto"/>
            </a:endParaRPr>
          </a:p>
        </p:txBody>
      </p:sp>
      <p:pic>
        <p:nvPicPr>
          <p:cNvPr id="215" name="Google Shape;215;p25"/>
          <p:cNvPicPr preferRelativeResize="0"/>
          <p:nvPr/>
        </p:nvPicPr>
        <p:blipFill>
          <a:blip r:embed="rId3">
            <a:alphaModFix/>
          </a:blip>
          <a:stretch>
            <a:fillRect/>
          </a:stretch>
        </p:blipFill>
        <p:spPr>
          <a:xfrm>
            <a:off x="4053975" y="4645100"/>
            <a:ext cx="872146" cy="461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280150" y="410000"/>
            <a:ext cx="8552400" cy="445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4200">
                <a:solidFill>
                  <a:schemeClr val="lt1"/>
                </a:solidFill>
              </a:rPr>
              <a:t>Tests de hipótesis</a:t>
            </a:r>
            <a:endParaRPr sz="4200">
              <a:solidFill>
                <a:schemeClr val="lt1"/>
              </a:solidFill>
            </a:endParaRPr>
          </a:p>
          <a:p>
            <a:pPr indent="0" lvl="0" marL="0" rtl="0" algn="l">
              <a:spcBef>
                <a:spcPts val="0"/>
              </a:spcBef>
              <a:spcAft>
                <a:spcPts val="0"/>
              </a:spcAft>
              <a:buNone/>
            </a:pPr>
            <a:r>
              <a:t/>
            </a:r>
            <a:endParaRPr b="1" sz="2200">
              <a:solidFill>
                <a:schemeClr val="lt1"/>
              </a:solidFill>
            </a:endParaRPr>
          </a:p>
          <a:p>
            <a:pPr indent="0" lvl="0" marL="0" rtl="0" algn="l">
              <a:spcBef>
                <a:spcPts val="0"/>
              </a:spcBef>
              <a:spcAft>
                <a:spcPts val="0"/>
              </a:spcAft>
              <a:buNone/>
            </a:pPr>
            <a:r>
              <a:rPr b="1" lang="es" sz="2200">
                <a:solidFill>
                  <a:schemeClr val="lt1"/>
                </a:solidFill>
              </a:rPr>
              <a:t>h0: β₁= 0   </a:t>
            </a:r>
            <a:r>
              <a:rPr lang="es" sz="1400">
                <a:solidFill>
                  <a:schemeClr val="lt1"/>
                </a:solidFill>
              </a:rPr>
              <a:t>(La duración de la llamada no es relevante en la contratación de un depósito)</a:t>
            </a:r>
            <a:endParaRPr sz="1400">
              <a:solidFill>
                <a:schemeClr val="lt1"/>
              </a:solidFill>
            </a:endParaRPr>
          </a:p>
          <a:p>
            <a:pPr indent="0" lvl="0" marL="0" rtl="0" algn="l">
              <a:spcBef>
                <a:spcPts val="0"/>
              </a:spcBef>
              <a:spcAft>
                <a:spcPts val="0"/>
              </a:spcAft>
              <a:buNone/>
            </a:pPr>
            <a:r>
              <a:rPr b="1" lang="es" sz="2200">
                <a:solidFill>
                  <a:schemeClr val="lt1"/>
                </a:solidFill>
              </a:rPr>
              <a:t> </a:t>
            </a:r>
            <a:endParaRPr b="1" sz="2200">
              <a:solidFill>
                <a:schemeClr val="lt1"/>
              </a:solidFill>
            </a:endParaRPr>
          </a:p>
          <a:p>
            <a:pPr indent="0" lvl="0" marL="0" rtl="0" algn="l">
              <a:spcBef>
                <a:spcPts val="0"/>
              </a:spcBef>
              <a:spcAft>
                <a:spcPts val="0"/>
              </a:spcAft>
              <a:buNone/>
            </a:pPr>
            <a:r>
              <a:rPr b="1" lang="es" sz="2200">
                <a:solidFill>
                  <a:schemeClr val="lt1"/>
                </a:solidFill>
              </a:rPr>
              <a:t>h1: ∃ β₁ ≠ 0  </a:t>
            </a:r>
            <a:r>
              <a:rPr b="1" lang="es" sz="1400">
                <a:solidFill>
                  <a:schemeClr val="lt1"/>
                </a:solidFill>
              </a:rPr>
              <a:t>(</a:t>
            </a:r>
            <a:r>
              <a:rPr lang="es" sz="1400">
                <a:solidFill>
                  <a:schemeClr val="lt1"/>
                </a:solidFill>
              </a:rPr>
              <a:t>La duración de la llamada es relevante en la contratación de un depósito)</a:t>
            </a:r>
            <a:endParaRPr sz="2200">
              <a:solidFill>
                <a:schemeClr val="lt1"/>
              </a:solidFill>
            </a:endParaRPr>
          </a:p>
          <a:p>
            <a:pPr indent="0" lvl="0" marL="0" rtl="0" algn="l">
              <a:spcBef>
                <a:spcPts val="0"/>
              </a:spcBef>
              <a:spcAft>
                <a:spcPts val="0"/>
              </a:spcAft>
              <a:buNone/>
            </a:pPr>
            <a:r>
              <a:t/>
            </a:r>
            <a:endParaRPr sz="2200">
              <a:solidFill>
                <a:schemeClr val="lt1"/>
              </a:solidFill>
            </a:endParaRPr>
          </a:p>
          <a:p>
            <a:pPr indent="0" lvl="0" marL="0" rtl="0" algn="l">
              <a:spcBef>
                <a:spcPts val="0"/>
              </a:spcBef>
              <a:spcAft>
                <a:spcPts val="0"/>
              </a:spcAft>
              <a:buNone/>
            </a:pPr>
            <a:r>
              <a:rPr b="1" lang="es" sz="2200">
                <a:solidFill>
                  <a:schemeClr val="lt1"/>
                </a:solidFill>
              </a:rPr>
              <a:t>t</a:t>
            </a:r>
            <a:r>
              <a:rPr b="1" baseline="30000" lang="es" sz="2200">
                <a:solidFill>
                  <a:schemeClr val="lt1"/>
                </a:solidFill>
              </a:rPr>
              <a:t>c </a:t>
            </a:r>
            <a:r>
              <a:rPr b="1" lang="es" sz="2200">
                <a:solidFill>
                  <a:schemeClr val="lt1"/>
                </a:solidFill>
              </a:rPr>
              <a:t>= ±1,96</a:t>
            </a:r>
            <a:endParaRPr sz="2200">
              <a:solidFill>
                <a:schemeClr val="lt1"/>
              </a:solidFill>
            </a:endParaRPr>
          </a:p>
          <a:p>
            <a:pPr indent="0" lvl="0" marL="0" rtl="0" algn="l">
              <a:spcBef>
                <a:spcPts val="0"/>
              </a:spcBef>
              <a:spcAft>
                <a:spcPts val="0"/>
              </a:spcAft>
              <a:buNone/>
            </a:pPr>
            <a:r>
              <a:t/>
            </a:r>
            <a:endParaRPr sz="2200">
              <a:solidFill>
                <a:schemeClr val="lt1"/>
              </a:solidFill>
            </a:endParaRPr>
          </a:p>
          <a:p>
            <a:pPr indent="0" lvl="0" marL="0" rtl="0" algn="l">
              <a:spcBef>
                <a:spcPts val="0"/>
              </a:spcBef>
              <a:spcAft>
                <a:spcPts val="0"/>
              </a:spcAft>
              <a:buNone/>
            </a:pPr>
            <a:r>
              <a:rPr b="1" lang="es" sz="1900">
                <a:solidFill>
                  <a:schemeClr val="lt1"/>
                </a:solidFill>
              </a:rPr>
              <a:t>(</a:t>
            </a:r>
            <a:r>
              <a:rPr lang="es" sz="1700">
                <a:solidFill>
                  <a:schemeClr val="lt1"/>
                </a:solidFill>
              </a:rPr>
              <a:t>Planteamos la misma prueba para los demás coeficientes de interés</a:t>
            </a:r>
            <a:r>
              <a:rPr b="1" lang="es" sz="1700">
                <a:solidFill>
                  <a:schemeClr val="lt1"/>
                </a:solidFill>
              </a:rPr>
              <a:t>)   </a:t>
            </a:r>
            <a:r>
              <a:rPr b="1" lang="es" sz="1900">
                <a:solidFill>
                  <a:schemeClr val="lt1"/>
                </a:solidFill>
              </a:rPr>
              <a:t>    </a:t>
            </a:r>
            <a:endParaRPr b="1" sz="1900">
              <a:solidFill>
                <a:schemeClr val="lt1"/>
              </a:solidFill>
            </a:endParaRPr>
          </a:p>
          <a:p>
            <a:pPr indent="0" lvl="0" marL="0" rtl="0" algn="l">
              <a:spcBef>
                <a:spcPts val="0"/>
              </a:spcBef>
              <a:spcAft>
                <a:spcPts val="0"/>
              </a:spcAft>
              <a:buNone/>
            </a:pPr>
            <a:r>
              <a:t/>
            </a:r>
            <a:endParaRPr b="1" sz="2200">
              <a:solidFill>
                <a:schemeClr val="lt1"/>
              </a:solidFill>
            </a:endParaRPr>
          </a:p>
          <a:p>
            <a:pPr indent="0" lvl="0" marL="0" rtl="0" algn="l">
              <a:spcBef>
                <a:spcPts val="0"/>
              </a:spcBef>
              <a:spcAft>
                <a:spcPts val="0"/>
              </a:spcAft>
              <a:buNone/>
            </a:pPr>
            <a:r>
              <a:t/>
            </a:r>
            <a:endParaRPr b="1" sz="2200">
              <a:solidFill>
                <a:schemeClr val="lt1"/>
              </a:solidFill>
            </a:endParaRPr>
          </a:p>
          <a:p>
            <a:pPr indent="0" lvl="0" marL="0" rtl="0" algn="l">
              <a:spcBef>
                <a:spcPts val="0"/>
              </a:spcBef>
              <a:spcAft>
                <a:spcPts val="0"/>
              </a:spcAft>
              <a:buNone/>
            </a:pPr>
            <a:r>
              <a:t/>
            </a:r>
            <a:endParaRPr b="1" sz="2200">
              <a:solidFill>
                <a:schemeClr val="lt1"/>
              </a:solidFill>
            </a:endParaRPr>
          </a:p>
          <a:p>
            <a:pPr indent="0" lvl="0" marL="0" rtl="0" algn="l">
              <a:spcBef>
                <a:spcPts val="0"/>
              </a:spcBef>
              <a:spcAft>
                <a:spcPts val="0"/>
              </a:spcAft>
              <a:buNone/>
            </a:pPr>
            <a:r>
              <a:t/>
            </a:r>
            <a:endParaRPr b="1" sz="2200">
              <a:solidFill>
                <a:schemeClr val="lt1"/>
              </a:solidFill>
            </a:endParaRPr>
          </a:p>
        </p:txBody>
      </p:sp>
      <p:pic>
        <p:nvPicPr>
          <p:cNvPr id="221" name="Google Shape;221;p26"/>
          <p:cNvPicPr preferRelativeResize="0"/>
          <p:nvPr/>
        </p:nvPicPr>
        <p:blipFill>
          <a:blip r:embed="rId3">
            <a:alphaModFix/>
          </a:blip>
          <a:stretch>
            <a:fillRect/>
          </a:stretch>
        </p:blipFill>
        <p:spPr>
          <a:xfrm>
            <a:off x="4053975" y="4645100"/>
            <a:ext cx="872146" cy="461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7"/>
          <p:cNvSpPr txBox="1"/>
          <p:nvPr>
            <p:ph type="title"/>
          </p:nvPr>
        </p:nvSpPr>
        <p:spPr>
          <a:xfrm>
            <a:off x="3090000" y="136000"/>
            <a:ext cx="2964000" cy="79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4200">
                <a:solidFill>
                  <a:schemeClr val="lt1"/>
                </a:solidFill>
              </a:rPr>
              <a:t>Resultados</a:t>
            </a:r>
            <a:endParaRPr/>
          </a:p>
        </p:txBody>
      </p:sp>
      <p:graphicFrame>
        <p:nvGraphicFramePr>
          <p:cNvPr id="227" name="Google Shape;227;p27"/>
          <p:cNvGraphicFramePr/>
          <p:nvPr/>
        </p:nvGraphicFramePr>
        <p:xfrm>
          <a:off x="833475" y="934600"/>
          <a:ext cx="3000000" cy="3000000"/>
        </p:xfrm>
        <a:graphic>
          <a:graphicData uri="http://schemas.openxmlformats.org/drawingml/2006/table">
            <a:tbl>
              <a:tblPr>
                <a:noFill/>
                <a:tableStyleId>{96DDD677-AC3A-43E0-B778-76E0CDB16EFA}</a:tableStyleId>
              </a:tblPr>
              <a:tblGrid>
                <a:gridCol w="1459700"/>
                <a:gridCol w="1459700"/>
                <a:gridCol w="1459700"/>
                <a:gridCol w="1459700"/>
                <a:gridCol w="1459700"/>
              </a:tblGrid>
              <a:tr h="758050">
                <a:tc>
                  <a:txBody>
                    <a:bodyPr/>
                    <a:lstStyle/>
                    <a:p>
                      <a:pPr indent="0" lvl="0" marL="0" rtl="0" algn="ctr">
                        <a:lnSpc>
                          <a:spcPct val="115000"/>
                        </a:lnSpc>
                        <a:spcBef>
                          <a:spcPts val="0"/>
                        </a:spcBef>
                        <a:spcAft>
                          <a:spcPts val="0"/>
                        </a:spcAft>
                        <a:buNone/>
                      </a:pPr>
                      <a:r>
                        <a:rPr b="1" lang="es">
                          <a:solidFill>
                            <a:schemeClr val="lt1"/>
                          </a:solidFill>
                          <a:latin typeface="Roboto"/>
                          <a:ea typeface="Roboto"/>
                          <a:cs typeface="Roboto"/>
                          <a:sym typeface="Roboto"/>
                        </a:rPr>
                        <a:t>Variable</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lnSpc>
                          <a:spcPct val="115000"/>
                        </a:lnSpc>
                        <a:spcBef>
                          <a:spcPts val="0"/>
                        </a:spcBef>
                        <a:spcAft>
                          <a:spcPts val="0"/>
                        </a:spcAft>
                        <a:buNone/>
                      </a:pPr>
                      <a:r>
                        <a:rPr b="1" lang="es">
                          <a:solidFill>
                            <a:schemeClr val="lt1"/>
                          </a:solidFill>
                          <a:latin typeface="Roboto"/>
                          <a:ea typeface="Roboto"/>
                          <a:cs typeface="Roboto"/>
                          <a:sym typeface="Roboto"/>
                        </a:rPr>
                        <a:t>Coeficiente</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lnSpc>
                          <a:spcPct val="115000"/>
                        </a:lnSpc>
                        <a:spcBef>
                          <a:spcPts val="0"/>
                        </a:spcBef>
                        <a:spcAft>
                          <a:spcPts val="0"/>
                        </a:spcAft>
                        <a:buNone/>
                      </a:pPr>
                      <a:r>
                        <a:rPr b="1" lang="es">
                          <a:solidFill>
                            <a:schemeClr val="lt1"/>
                          </a:solidFill>
                          <a:latin typeface="Roboto"/>
                          <a:ea typeface="Roboto"/>
                          <a:cs typeface="Roboto"/>
                          <a:sym typeface="Roboto"/>
                        </a:rPr>
                        <a:t>Error estándar*</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lnSpc>
                          <a:spcPct val="115000"/>
                        </a:lnSpc>
                        <a:spcBef>
                          <a:spcPts val="0"/>
                        </a:spcBef>
                        <a:spcAft>
                          <a:spcPts val="0"/>
                        </a:spcAft>
                        <a:buNone/>
                      </a:pPr>
                      <a:r>
                        <a:rPr b="1" lang="es">
                          <a:solidFill>
                            <a:schemeClr val="lt1"/>
                          </a:solidFill>
                          <a:latin typeface="Roboto"/>
                          <a:ea typeface="Roboto"/>
                          <a:cs typeface="Roboto"/>
                          <a:sym typeface="Roboto"/>
                        </a:rPr>
                        <a:t>t-value*</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lnSpc>
                          <a:spcPct val="115000"/>
                        </a:lnSpc>
                        <a:spcBef>
                          <a:spcPts val="0"/>
                        </a:spcBef>
                        <a:spcAft>
                          <a:spcPts val="0"/>
                        </a:spcAft>
                        <a:buNone/>
                      </a:pPr>
                      <a:r>
                        <a:rPr b="1" lang="es">
                          <a:solidFill>
                            <a:schemeClr val="lt1"/>
                          </a:solidFill>
                          <a:latin typeface="Roboto"/>
                          <a:ea typeface="Roboto"/>
                          <a:cs typeface="Roboto"/>
                          <a:sym typeface="Roboto"/>
                        </a:rPr>
                        <a:t>p-valor*</a:t>
                      </a:r>
                      <a:endParaRPr b="1">
                        <a:solidFill>
                          <a:schemeClr val="lt1"/>
                        </a:solidFill>
                        <a:latin typeface="Roboto"/>
                        <a:ea typeface="Roboto"/>
                        <a:cs typeface="Roboto"/>
                        <a:sym typeface="Roboto"/>
                      </a:endParaRPr>
                    </a:p>
                  </a:txBody>
                  <a:tcPr marT="91425" marB="91425" marR="91425" marL="91425" anchor="ctr"/>
                </a:tc>
              </a:tr>
              <a:tr h="468150">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Intercepto</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0.124</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0.0077</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16.07</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&lt; 2.2×10⁻¹⁶</a:t>
                      </a:r>
                      <a:endParaRPr b="1">
                        <a:solidFill>
                          <a:schemeClr val="lt1"/>
                        </a:solidFill>
                        <a:latin typeface="Roboto"/>
                        <a:ea typeface="Roboto"/>
                        <a:cs typeface="Roboto"/>
                        <a:sym typeface="Roboto"/>
                      </a:endParaRPr>
                    </a:p>
                  </a:txBody>
                  <a:tcPr marT="91425" marB="91425" marR="91425" marL="91425" anchor="ctr"/>
                </a:tc>
              </a:tr>
              <a:tr h="468150">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Duration</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0.00055</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0.00001</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61.92</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&lt; 2.2×10⁻¹⁶</a:t>
                      </a:r>
                      <a:endParaRPr b="1">
                        <a:solidFill>
                          <a:schemeClr val="lt1"/>
                        </a:solidFill>
                        <a:latin typeface="Roboto"/>
                        <a:ea typeface="Roboto"/>
                        <a:cs typeface="Roboto"/>
                        <a:sym typeface="Roboto"/>
                      </a:endParaRPr>
                    </a:p>
                  </a:txBody>
                  <a:tcPr marT="91425" marB="91425" marR="91425" marL="91425" anchor="ctr"/>
                </a:tc>
              </a:tr>
              <a:tr h="468150">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Age</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0.0010</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0.00016</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6.31</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2.77×10⁻⁷</a:t>
                      </a:r>
                      <a:endParaRPr b="1">
                        <a:solidFill>
                          <a:schemeClr val="lt1"/>
                        </a:solidFill>
                        <a:latin typeface="Roboto"/>
                        <a:ea typeface="Roboto"/>
                        <a:cs typeface="Roboto"/>
                        <a:sym typeface="Roboto"/>
                      </a:endParaRPr>
                    </a:p>
                  </a:txBody>
                  <a:tcPr marT="91425" marB="91425" marR="91425" marL="91425" anchor="ctr"/>
                </a:tc>
              </a:tr>
              <a:tr h="468150">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Euribor 3m</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–0.05189</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0.00105</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–50.03</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&lt; 2.2×10⁻¹⁶</a:t>
                      </a:r>
                      <a:endParaRPr b="1">
                        <a:solidFill>
                          <a:schemeClr val="lt1"/>
                        </a:solidFill>
                        <a:latin typeface="Roboto"/>
                        <a:ea typeface="Roboto"/>
                        <a:cs typeface="Roboto"/>
                        <a:sym typeface="Roboto"/>
                      </a:endParaRPr>
                    </a:p>
                  </a:txBody>
                  <a:tcPr marT="91425" marB="91425" marR="91425" marL="91425" anchor="ctr"/>
                </a:tc>
              </a:tr>
              <a:tr h="468150">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Contacto tel.</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–0.01137</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0.00243</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–4.66</a:t>
                      </a:r>
                      <a:endParaRPr b="1">
                        <a:solidFill>
                          <a:schemeClr val="lt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b="1" lang="es">
                          <a:solidFill>
                            <a:schemeClr val="lt1"/>
                          </a:solidFill>
                          <a:latin typeface="Roboto"/>
                          <a:ea typeface="Roboto"/>
                          <a:cs typeface="Roboto"/>
                          <a:sym typeface="Roboto"/>
                        </a:rPr>
                        <a:t>1.87×10⁻⁷</a:t>
                      </a:r>
                      <a:endParaRPr b="1">
                        <a:solidFill>
                          <a:schemeClr val="lt1"/>
                        </a:solidFill>
                        <a:latin typeface="Roboto"/>
                        <a:ea typeface="Roboto"/>
                        <a:cs typeface="Roboto"/>
                        <a:sym typeface="Roboto"/>
                      </a:endParaRPr>
                    </a:p>
                  </a:txBody>
                  <a:tcPr marT="91425" marB="91425" marR="91425" marL="91425" anchor="ctr"/>
                </a:tc>
              </a:tr>
            </a:tbl>
          </a:graphicData>
        </a:graphic>
      </p:graphicFrame>
      <p:sp>
        <p:nvSpPr>
          <p:cNvPr id="228" name="Google Shape;228;p27"/>
          <p:cNvSpPr txBox="1"/>
          <p:nvPr/>
        </p:nvSpPr>
        <p:spPr>
          <a:xfrm>
            <a:off x="833475" y="4542275"/>
            <a:ext cx="6120300" cy="4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lt1"/>
                </a:solidFill>
                <a:latin typeface="Roboto"/>
                <a:ea typeface="Roboto"/>
                <a:cs typeface="Roboto"/>
                <a:sym typeface="Roboto"/>
              </a:rPr>
              <a:t>*Estimadores robustos a </a:t>
            </a:r>
            <a:r>
              <a:rPr lang="es" sz="1700">
                <a:solidFill>
                  <a:schemeClr val="lt1"/>
                </a:solidFill>
                <a:latin typeface="Roboto"/>
                <a:ea typeface="Roboto"/>
                <a:cs typeface="Roboto"/>
                <a:sym typeface="Roboto"/>
              </a:rPr>
              <a:t>heterocedasticidad</a:t>
            </a:r>
            <a:r>
              <a:rPr lang="es" sz="1700">
                <a:solidFill>
                  <a:schemeClr val="lt1"/>
                </a:solidFill>
                <a:latin typeface="Roboto"/>
                <a:ea typeface="Roboto"/>
                <a:cs typeface="Roboto"/>
                <a:sym typeface="Roboto"/>
              </a:rPr>
              <a:t> (LPM)</a:t>
            </a:r>
            <a:endParaRPr sz="1800">
              <a:solidFill>
                <a:schemeClr val="dk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8"/>
          <p:cNvSpPr txBox="1"/>
          <p:nvPr>
            <p:ph type="title"/>
          </p:nvPr>
        </p:nvSpPr>
        <p:spPr>
          <a:xfrm>
            <a:off x="337275" y="2753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rPr>
              <a:t>Interpretaciones y Conclusiones</a:t>
            </a:r>
            <a:endParaRPr>
              <a:solidFill>
                <a:schemeClr val="lt1"/>
              </a:solidFill>
            </a:endParaRPr>
          </a:p>
        </p:txBody>
      </p:sp>
      <p:sp>
        <p:nvSpPr>
          <p:cNvPr id="234" name="Google Shape;234;p28"/>
          <p:cNvSpPr txBox="1"/>
          <p:nvPr/>
        </p:nvSpPr>
        <p:spPr>
          <a:xfrm>
            <a:off x="173575" y="940900"/>
            <a:ext cx="8520600" cy="60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800"/>
              </a:spcBef>
              <a:spcAft>
                <a:spcPts val="0"/>
              </a:spcAft>
              <a:buNone/>
            </a:pPr>
            <a:r>
              <a:rPr b="1" lang="es" sz="1700">
                <a:solidFill>
                  <a:schemeClr val="lt1"/>
                </a:solidFill>
                <a:latin typeface="Roboto"/>
                <a:ea typeface="Roboto"/>
                <a:cs typeface="Roboto"/>
                <a:sym typeface="Roboto"/>
              </a:rPr>
              <a:t>• Llamadas más largas → mayor probabilidad de contratación.</a:t>
            </a:r>
            <a:endParaRPr b="1" sz="1700">
              <a:solidFill>
                <a:schemeClr val="lt1"/>
              </a:solidFill>
              <a:latin typeface="Roboto"/>
              <a:ea typeface="Roboto"/>
              <a:cs typeface="Roboto"/>
              <a:sym typeface="Roboto"/>
            </a:endParaRPr>
          </a:p>
          <a:p>
            <a:pPr indent="0" lvl="0" marL="12700" rtl="0" algn="l">
              <a:lnSpc>
                <a:spcPct val="115000"/>
              </a:lnSpc>
              <a:spcBef>
                <a:spcPts val="700"/>
              </a:spcBef>
              <a:spcAft>
                <a:spcPts val="0"/>
              </a:spcAft>
              <a:buNone/>
            </a:pPr>
            <a:r>
              <a:rPr lang="es">
                <a:solidFill>
                  <a:schemeClr val="lt1"/>
                </a:solidFill>
                <a:latin typeface="Roboto"/>
                <a:ea typeface="Roboto"/>
                <a:cs typeface="Roboto"/>
                <a:sym typeface="Roboto"/>
              </a:rPr>
              <a:t>Indica mayor interés y un proceso comercial más efectivo.</a:t>
            </a:r>
            <a:endParaRPr>
              <a:solidFill>
                <a:schemeClr val="lt1"/>
              </a:solidFill>
              <a:latin typeface="Roboto"/>
              <a:ea typeface="Roboto"/>
              <a:cs typeface="Roboto"/>
              <a:sym typeface="Roboto"/>
            </a:endParaRPr>
          </a:p>
          <a:p>
            <a:pPr indent="0" lvl="0" marL="0" rtl="0" algn="l">
              <a:spcBef>
                <a:spcPts val="0"/>
              </a:spcBef>
              <a:spcAft>
                <a:spcPts val="0"/>
              </a:spcAft>
              <a:buNone/>
            </a:pPr>
            <a:r>
              <a:t/>
            </a:r>
            <a:endParaRPr sz="1800">
              <a:solidFill>
                <a:schemeClr val="lt1"/>
              </a:solidFill>
              <a:latin typeface="Roboto"/>
              <a:ea typeface="Roboto"/>
              <a:cs typeface="Roboto"/>
              <a:sym typeface="Roboto"/>
            </a:endParaRPr>
          </a:p>
        </p:txBody>
      </p:sp>
      <p:sp>
        <p:nvSpPr>
          <p:cNvPr id="235" name="Google Shape;235;p28"/>
          <p:cNvSpPr txBox="1"/>
          <p:nvPr/>
        </p:nvSpPr>
        <p:spPr>
          <a:xfrm>
            <a:off x="196525" y="3178325"/>
            <a:ext cx="8151900" cy="172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800"/>
              </a:spcBef>
              <a:spcAft>
                <a:spcPts val="0"/>
              </a:spcAft>
              <a:buNone/>
            </a:pPr>
            <a:r>
              <a:rPr b="1" lang="es" sz="1700">
                <a:solidFill>
                  <a:schemeClr val="lt1"/>
                </a:solidFill>
                <a:latin typeface="Roboto"/>
                <a:ea typeface="Roboto"/>
                <a:cs typeface="Roboto"/>
                <a:sym typeface="Roboto"/>
              </a:rPr>
              <a:t>• Menor Euribor → mayor probabilidad de contratar un depósito.</a:t>
            </a:r>
            <a:endParaRPr>
              <a:solidFill>
                <a:schemeClr val="lt1"/>
              </a:solidFill>
              <a:latin typeface="Roboto"/>
              <a:ea typeface="Roboto"/>
              <a:cs typeface="Roboto"/>
              <a:sym typeface="Roboto"/>
            </a:endParaRPr>
          </a:p>
          <a:p>
            <a:pPr indent="-317500" lvl="0" marL="457200" rtl="0" algn="l">
              <a:lnSpc>
                <a:spcPct val="115000"/>
              </a:lnSpc>
              <a:spcBef>
                <a:spcPts val="700"/>
              </a:spcBef>
              <a:spcAft>
                <a:spcPts val="0"/>
              </a:spcAft>
              <a:buClr>
                <a:schemeClr val="lt1"/>
              </a:buClr>
              <a:buSzPts val="1400"/>
              <a:buFont typeface="Roboto"/>
              <a:buChar char="❖"/>
            </a:pPr>
            <a:r>
              <a:rPr lang="es">
                <a:solidFill>
                  <a:schemeClr val="lt1"/>
                </a:solidFill>
                <a:latin typeface="Roboto"/>
                <a:ea typeface="Roboto"/>
                <a:cs typeface="Roboto"/>
                <a:sym typeface="Roboto"/>
              </a:rPr>
              <a:t>Las tasas bajas reflejan la crisis e incertidumbre (2008–2010).</a:t>
            </a:r>
            <a:endParaRPr>
              <a:solidFill>
                <a:schemeClr val="lt1"/>
              </a:solidFill>
              <a:latin typeface="Roboto"/>
              <a:ea typeface="Roboto"/>
              <a:cs typeface="Roboto"/>
              <a:sym typeface="Roboto"/>
            </a:endParaRPr>
          </a:p>
          <a:p>
            <a:pPr indent="-317500" lvl="0" marL="457200" rtl="0" algn="l">
              <a:lnSpc>
                <a:spcPct val="115000"/>
              </a:lnSpc>
              <a:spcBef>
                <a:spcPts val="0"/>
              </a:spcBef>
              <a:spcAft>
                <a:spcPts val="0"/>
              </a:spcAft>
              <a:buClr>
                <a:schemeClr val="lt1"/>
              </a:buClr>
              <a:buSzPts val="1400"/>
              <a:buFont typeface="Roboto"/>
              <a:buChar char="❖"/>
            </a:pPr>
            <a:r>
              <a:rPr lang="es">
                <a:solidFill>
                  <a:schemeClr val="lt1"/>
                </a:solidFill>
                <a:latin typeface="Roboto"/>
                <a:ea typeface="Roboto"/>
                <a:cs typeface="Roboto"/>
                <a:sym typeface="Roboto"/>
              </a:rPr>
              <a:t>Los clientes buscan seguridad ante escenarios de riesgo.</a:t>
            </a:r>
            <a:endParaRPr>
              <a:solidFill>
                <a:schemeClr val="lt1"/>
              </a:solidFill>
              <a:latin typeface="Roboto"/>
              <a:ea typeface="Roboto"/>
              <a:cs typeface="Roboto"/>
              <a:sym typeface="Roboto"/>
            </a:endParaRPr>
          </a:p>
          <a:p>
            <a:pPr indent="-317500" lvl="0" marL="457200" rtl="0" algn="l">
              <a:lnSpc>
                <a:spcPct val="115000"/>
              </a:lnSpc>
              <a:spcBef>
                <a:spcPts val="0"/>
              </a:spcBef>
              <a:spcAft>
                <a:spcPts val="0"/>
              </a:spcAft>
              <a:buClr>
                <a:schemeClr val="lt1"/>
              </a:buClr>
              <a:buSzPts val="1400"/>
              <a:buFont typeface="Roboto"/>
              <a:buChar char="❖"/>
            </a:pPr>
            <a:r>
              <a:rPr lang="es">
                <a:solidFill>
                  <a:schemeClr val="lt1"/>
                </a:solidFill>
                <a:latin typeface="Roboto"/>
                <a:ea typeface="Roboto"/>
                <a:cs typeface="Roboto"/>
                <a:sym typeface="Roboto"/>
              </a:rPr>
              <a:t>Puede deberse al fenómeno “Flight to Quality”</a:t>
            </a:r>
            <a:endParaRPr>
              <a:solidFill>
                <a:schemeClr val="lt1"/>
              </a:solidFill>
              <a:latin typeface="Roboto"/>
              <a:ea typeface="Roboto"/>
              <a:cs typeface="Roboto"/>
              <a:sym typeface="Roboto"/>
            </a:endParaRPr>
          </a:p>
          <a:p>
            <a:pPr indent="0" lvl="0" marL="0" rtl="0" algn="l">
              <a:spcBef>
                <a:spcPts val="0"/>
              </a:spcBef>
              <a:spcAft>
                <a:spcPts val="0"/>
              </a:spcAft>
              <a:buNone/>
            </a:pPr>
            <a:r>
              <a:t/>
            </a:r>
            <a:endParaRPr sz="1200">
              <a:solidFill>
                <a:schemeClr val="lt1"/>
              </a:solidFill>
              <a:latin typeface="Roboto"/>
              <a:ea typeface="Roboto"/>
              <a:cs typeface="Roboto"/>
              <a:sym typeface="Roboto"/>
            </a:endParaRPr>
          </a:p>
        </p:txBody>
      </p:sp>
      <p:sp>
        <p:nvSpPr>
          <p:cNvPr id="236" name="Google Shape;236;p28"/>
          <p:cNvSpPr txBox="1"/>
          <p:nvPr/>
        </p:nvSpPr>
        <p:spPr>
          <a:xfrm>
            <a:off x="173575" y="1959563"/>
            <a:ext cx="5349600" cy="8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800"/>
              </a:spcBef>
              <a:spcAft>
                <a:spcPts val="0"/>
              </a:spcAft>
              <a:buNone/>
            </a:pPr>
            <a:r>
              <a:rPr b="1" lang="es" sz="1700">
                <a:solidFill>
                  <a:schemeClr val="lt1"/>
                </a:solidFill>
                <a:latin typeface="Roboto"/>
                <a:ea typeface="Roboto"/>
                <a:cs typeface="Roboto"/>
                <a:sym typeface="Roboto"/>
              </a:rPr>
              <a:t>• Es mejor llamar a celulares que a teléfonos</a:t>
            </a:r>
            <a:endParaRPr b="1" sz="1700">
              <a:solidFill>
                <a:schemeClr val="lt1"/>
              </a:solidFill>
              <a:latin typeface="Roboto"/>
              <a:ea typeface="Roboto"/>
              <a:cs typeface="Roboto"/>
              <a:sym typeface="Roboto"/>
            </a:endParaRPr>
          </a:p>
          <a:p>
            <a:pPr indent="0" lvl="0" marL="12700" rtl="0" algn="l">
              <a:lnSpc>
                <a:spcPct val="115000"/>
              </a:lnSpc>
              <a:spcBef>
                <a:spcPts val="700"/>
              </a:spcBef>
              <a:spcAft>
                <a:spcPts val="0"/>
              </a:spcAft>
              <a:buNone/>
            </a:pPr>
            <a:r>
              <a:rPr lang="es">
                <a:solidFill>
                  <a:schemeClr val="lt1"/>
                </a:solidFill>
                <a:latin typeface="Roboto"/>
                <a:ea typeface="Roboto"/>
                <a:cs typeface="Roboto"/>
                <a:sym typeface="Roboto"/>
              </a:rPr>
              <a:t>Llamar a un teléfono fijo reduce la probabilidad de éxito en un </a:t>
            </a:r>
            <a:r>
              <a:rPr b="1" lang="es">
                <a:solidFill>
                  <a:schemeClr val="lt1"/>
                </a:solidFill>
                <a:latin typeface="Roboto"/>
                <a:ea typeface="Roboto"/>
                <a:cs typeface="Roboto"/>
                <a:sym typeface="Roboto"/>
              </a:rPr>
              <a:t>1.1%</a:t>
            </a:r>
            <a:r>
              <a:rPr lang="es">
                <a:solidFill>
                  <a:schemeClr val="lt1"/>
                </a:solidFill>
                <a:latin typeface="Roboto"/>
                <a:ea typeface="Roboto"/>
                <a:cs typeface="Roboto"/>
                <a:sym typeface="Roboto"/>
              </a:rPr>
              <a:t> comparado con llamar a un celular.</a:t>
            </a:r>
            <a:endParaRPr b="1" sz="1700">
              <a:solidFill>
                <a:schemeClr val="lt1"/>
              </a:solidFill>
              <a:latin typeface="Roboto"/>
              <a:ea typeface="Roboto"/>
              <a:cs typeface="Roboto"/>
              <a:sym typeface="Roboto"/>
            </a:endParaRPr>
          </a:p>
        </p:txBody>
      </p:sp>
      <p:pic>
        <p:nvPicPr>
          <p:cNvPr id="237" name="Google Shape;237;p28"/>
          <p:cNvPicPr preferRelativeResize="0"/>
          <p:nvPr/>
        </p:nvPicPr>
        <p:blipFill>
          <a:blip r:embed="rId3">
            <a:alphaModFix/>
          </a:blip>
          <a:stretch>
            <a:fillRect/>
          </a:stretch>
        </p:blipFill>
        <p:spPr>
          <a:xfrm>
            <a:off x="6711873" y="883138"/>
            <a:ext cx="1889325" cy="951600"/>
          </a:xfrm>
          <a:prstGeom prst="rect">
            <a:avLst/>
          </a:prstGeom>
          <a:noFill/>
          <a:ln>
            <a:noFill/>
          </a:ln>
        </p:spPr>
      </p:pic>
      <p:pic>
        <p:nvPicPr>
          <p:cNvPr id="238" name="Google Shape;238;p28"/>
          <p:cNvPicPr preferRelativeResize="0"/>
          <p:nvPr/>
        </p:nvPicPr>
        <p:blipFill>
          <a:blip r:embed="rId4">
            <a:alphaModFix/>
          </a:blip>
          <a:stretch>
            <a:fillRect/>
          </a:stretch>
        </p:blipFill>
        <p:spPr>
          <a:xfrm>
            <a:off x="6626576" y="2076675"/>
            <a:ext cx="1974625" cy="1073025"/>
          </a:xfrm>
          <a:prstGeom prst="rect">
            <a:avLst/>
          </a:prstGeom>
          <a:noFill/>
          <a:ln>
            <a:noFill/>
          </a:ln>
        </p:spPr>
      </p:pic>
      <p:pic>
        <p:nvPicPr>
          <p:cNvPr id="239" name="Google Shape;239;p28"/>
          <p:cNvPicPr preferRelativeResize="0"/>
          <p:nvPr/>
        </p:nvPicPr>
        <p:blipFill>
          <a:blip r:embed="rId5">
            <a:alphaModFix/>
          </a:blip>
          <a:stretch>
            <a:fillRect/>
          </a:stretch>
        </p:blipFill>
        <p:spPr>
          <a:xfrm>
            <a:off x="6276588" y="3677675"/>
            <a:ext cx="2581275" cy="1009650"/>
          </a:xfrm>
          <a:prstGeom prst="rect">
            <a:avLst/>
          </a:prstGeom>
          <a:noFill/>
          <a:ln>
            <a:noFill/>
          </a:ln>
        </p:spPr>
      </p:pic>
      <p:pic>
        <p:nvPicPr>
          <p:cNvPr id="240" name="Google Shape;240;p28"/>
          <p:cNvPicPr preferRelativeResize="0"/>
          <p:nvPr/>
        </p:nvPicPr>
        <p:blipFill>
          <a:blip r:embed="rId6">
            <a:alphaModFix/>
          </a:blip>
          <a:stretch>
            <a:fillRect/>
          </a:stretch>
        </p:blipFill>
        <p:spPr>
          <a:xfrm>
            <a:off x="4053975" y="4645100"/>
            <a:ext cx="872146" cy="461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9"/>
          <p:cNvSpPr txBox="1"/>
          <p:nvPr>
            <p:ph type="title"/>
          </p:nvPr>
        </p:nvSpPr>
        <p:spPr>
          <a:xfrm>
            <a:off x="311700" y="360200"/>
            <a:ext cx="9303900" cy="440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rPr>
              <a:t>Interpretaciones y Conclusiones</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lnSpc>
                <a:spcPct val="115000"/>
              </a:lnSpc>
              <a:spcBef>
                <a:spcPts val="0"/>
              </a:spcBef>
              <a:spcAft>
                <a:spcPts val="0"/>
              </a:spcAft>
              <a:buNone/>
            </a:pPr>
            <a:r>
              <a:t/>
            </a:r>
            <a:endParaRPr sz="2000">
              <a:solidFill>
                <a:schemeClr val="lt1"/>
              </a:solidFill>
            </a:endParaRPr>
          </a:p>
          <a:p>
            <a:pPr indent="0" lvl="0" marL="0" rtl="0" algn="l">
              <a:lnSpc>
                <a:spcPct val="115000"/>
              </a:lnSpc>
              <a:spcBef>
                <a:spcPts val="0"/>
              </a:spcBef>
              <a:spcAft>
                <a:spcPts val="0"/>
              </a:spcAft>
              <a:buNone/>
            </a:pPr>
            <a:r>
              <a:t/>
            </a:r>
            <a:endParaRPr sz="2000">
              <a:solidFill>
                <a:schemeClr val="dk2"/>
              </a:solidFill>
            </a:endParaRPr>
          </a:p>
          <a:p>
            <a:pPr indent="0" lvl="0" marL="0" rtl="0" algn="l">
              <a:spcBef>
                <a:spcPts val="0"/>
              </a:spcBef>
              <a:spcAft>
                <a:spcPts val="0"/>
              </a:spcAft>
              <a:buNone/>
            </a:pPr>
            <a:r>
              <a:t/>
            </a:r>
            <a:endParaRPr/>
          </a:p>
        </p:txBody>
      </p:sp>
      <p:grpSp>
        <p:nvGrpSpPr>
          <p:cNvPr id="246" name="Google Shape;246;p29"/>
          <p:cNvGrpSpPr/>
          <p:nvPr/>
        </p:nvGrpSpPr>
        <p:grpSpPr>
          <a:xfrm>
            <a:off x="264780" y="1162081"/>
            <a:ext cx="2939713" cy="3633341"/>
            <a:chOff x="6212550" y="1304875"/>
            <a:chExt cx="2632500" cy="3416400"/>
          </a:xfrm>
        </p:grpSpPr>
        <p:sp>
          <p:nvSpPr>
            <p:cNvPr id="247" name="Google Shape;247;p29"/>
            <p:cNvSpPr/>
            <p:nvPr/>
          </p:nvSpPr>
          <p:spPr>
            <a:xfrm>
              <a:off x="6215400" y="1304875"/>
              <a:ext cx="2628900" cy="34164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9"/>
            <p:cNvSpPr txBox="1"/>
            <p:nvPr/>
          </p:nvSpPr>
          <p:spPr>
            <a:xfrm>
              <a:off x="6212550" y="1304875"/>
              <a:ext cx="2632500" cy="464100"/>
            </a:xfrm>
            <a:prstGeom prst="rect">
              <a:avLst/>
            </a:prstGeom>
            <a:solidFill>
              <a:schemeClr val="dk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9" name="Google Shape;249;p29"/>
          <p:cNvSpPr txBox="1"/>
          <p:nvPr>
            <p:ph idx="4294967295" type="body"/>
          </p:nvPr>
        </p:nvSpPr>
        <p:spPr>
          <a:xfrm>
            <a:off x="311700" y="1162150"/>
            <a:ext cx="2892900" cy="461400"/>
          </a:xfrm>
          <a:prstGeom prst="rect">
            <a:avLst/>
          </a:prstGeom>
          <a:solidFill>
            <a:srgbClr val="04122B"/>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 sz="1600">
                <a:solidFill>
                  <a:schemeClr val="lt1"/>
                </a:solidFill>
              </a:rPr>
              <a:t>Hipótesis Inicial</a:t>
            </a:r>
            <a:endParaRPr sz="1600">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250" name="Google Shape;250;p29"/>
          <p:cNvSpPr txBox="1"/>
          <p:nvPr>
            <p:ph idx="4294967295" type="body"/>
          </p:nvPr>
        </p:nvSpPr>
        <p:spPr>
          <a:xfrm>
            <a:off x="311700" y="1707575"/>
            <a:ext cx="2812800" cy="3014700"/>
          </a:xfrm>
          <a:prstGeom prst="rect">
            <a:avLst/>
          </a:prstGeom>
          <a:solidFill>
            <a:srgbClr val="0F193C"/>
          </a:solidFill>
          <a:ln cap="flat" cmpd="sng" w="9525">
            <a:solidFill>
              <a:srgbClr val="0B1F4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 sz="1400">
                <a:solidFill>
                  <a:schemeClr val="lt1"/>
                </a:solidFill>
              </a:rPr>
              <a:t>L</a:t>
            </a:r>
            <a:r>
              <a:rPr lang="es" sz="1400">
                <a:solidFill>
                  <a:schemeClr val="lt1"/>
                </a:solidFill>
              </a:rPr>
              <a:t>a probabilidad de que un cliente contrate depende de la duración de la llamada, del tipo de contacto y de su interacción (Duration × Contact), controlando por edad y euribor 3m</a:t>
            </a:r>
            <a:endParaRPr sz="2000"/>
          </a:p>
        </p:txBody>
      </p:sp>
      <p:sp>
        <p:nvSpPr>
          <p:cNvPr id="251" name="Google Shape;251;p29"/>
          <p:cNvSpPr/>
          <p:nvPr/>
        </p:nvSpPr>
        <p:spPr>
          <a:xfrm>
            <a:off x="3460375" y="2695975"/>
            <a:ext cx="1884300" cy="625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52" name="Google Shape;252;p29"/>
          <p:cNvGrpSpPr/>
          <p:nvPr/>
        </p:nvGrpSpPr>
        <p:grpSpPr>
          <a:xfrm>
            <a:off x="5695705" y="1162081"/>
            <a:ext cx="3089502" cy="3633341"/>
            <a:chOff x="6212550" y="1304875"/>
            <a:chExt cx="2632500" cy="3416400"/>
          </a:xfrm>
        </p:grpSpPr>
        <p:sp>
          <p:nvSpPr>
            <p:cNvPr id="253" name="Google Shape;253;p29"/>
            <p:cNvSpPr/>
            <p:nvPr/>
          </p:nvSpPr>
          <p:spPr>
            <a:xfrm>
              <a:off x="6215400" y="1304875"/>
              <a:ext cx="2628900" cy="34164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9"/>
            <p:cNvSpPr txBox="1"/>
            <p:nvPr/>
          </p:nvSpPr>
          <p:spPr>
            <a:xfrm>
              <a:off x="6212550" y="1304875"/>
              <a:ext cx="2632500" cy="464100"/>
            </a:xfrm>
            <a:prstGeom prst="rect">
              <a:avLst/>
            </a:prstGeom>
            <a:solidFill>
              <a:schemeClr val="dk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5" name="Google Shape;255;p29"/>
          <p:cNvSpPr txBox="1"/>
          <p:nvPr>
            <p:ph idx="4294967295" type="body"/>
          </p:nvPr>
        </p:nvSpPr>
        <p:spPr>
          <a:xfrm>
            <a:off x="5695700" y="1162150"/>
            <a:ext cx="3089400" cy="461400"/>
          </a:xfrm>
          <a:prstGeom prst="rect">
            <a:avLst/>
          </a:prstGeom>
          <a:solidFill>
            <a:srgbClr val="04122B"/>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 sz="1600">
                <a:solidFill>
                  <a:schemeClr val="lt1"/>
                </a:solidFill>
              </a:rPr>
              <a:t>Respuesta</a:t>
            </a:r>
            <a:endParaRPr sz="1600">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256" name="Google Shape;256;p29"/>
          <p:cNvSpPr txBox="1"/>
          <p:nvPr>
            <p:ph idx="4294967295" type="body"/>
          </p:nvPr>
        </p:nvSpPr>
        <p:spPr>
          <a:xfrm>
            <a:off x="5772650" y="1707575"/>
            <a:ext cx="2939700" cy="3014700"/>
          </a:xfrm>
          <a:prstGeom prst="rect">
            <a:avLst/>
          </a:prstGeom>
          <a:solidFill>
            <a:srgbClr val="0F193C"/>
          </a:solidFill>
          <a:ln cap="flat" cmpd="sng" w="9525">
            <a:solidFill>
              <a:srgbClr val="0B1F4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 sz="1400">
                <a:solidFill>
                  <a:schemeClr val="lt1"/>
                </a:solidFill>
              </a:rPr>
              <a:t>Las variables analizadas efectivamente son relevantes para determinar si el encuestado suscribirá al </a:t>
            </a:r>
            <a:r>
              <a:rPr lang="es" sz="1400">
                <a:solidFill>
                  <a:schemeClr val="lt1"/>
                </a:solidFill>
              </a:rPr>
              <a:t>depósito.  Los efectos de la edad y la tasa de interés no son los esperados</a:t>
            </a:r>
            <a:endParaRPr sz="14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0"/>
          <p:cNvSpPr txBox="1"/>
          <p:nvPr>
            <p:ph type="title"/>
          </p:nvPr>
        </p:nvSpPr>
        <p:spPr>
          <a:xfrm>
            <a:off x="311700" y="410000"/>
            <a:ext cx="8520600" cy="444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rPr>
              <a:t>Interpretaciones y Conclusiones</a:t>
            </a:r>
            <a:endParaRPr>
              <a:solidFill>
                <a:schemeClr val="lt1"/>
              </a:solidFill>
            </a:endParaRPr>
          </a:p>
          <a:p>
            <a:pPr indent="0" lvl="0" marL="0" rtl="0" algn="l">
              <a:spcBef>
                <a:spcPts val="0"/>
              </a:spcBef>
              <a:spcAft>
                <a:spcPts val="0"/>
              </a:spcAft>
              <a:buNone/>
            </a:pPr>
            <a:r>
              <a:t/>
            </a:r>
            <a:endParaRPr>
              <a:solidFill>
                <a:schemeClr val="lt1"/>
              </a:solidFill>
            </a:endParaRPr>
          </a:p>
          <a:p>
            <a:pPr indent="-336550" lvl="0" marL="457200" rtl="0" algn="l">
              <a:spcBef>
                <a:spcPts val="0"/>
              </a:spcBef>
              <a:spcAft>
                <a:spcPts val="0"/>
              </a:spcAft>
              <a:buClr>
                <a:schemeClr val="lt1"/>
              </a:buClr>
              <a:buSzPts val="1700"/>
              <a:buChar char="●"/>
            </a:pPr>
            <a:r>
              <a:rPr lang="es" sz="1700">
                <a:solidFill>
                  <a:schemeClr val="lt1"/>
                </a:solidFill>
              </a:rPr>
              <a:t>El efecto de la tasa de interés reportado en la regresión no condice con lo esperado. Es “lógico” que, ante una mayor tasa de interés de referencia, resulte más atractivo un depósito a plazo que otros instrumentos de ahorro con mayores riesgos.</a:t>
            </a:r>
            <a:endParaRPr sz="1700">
              <a:solidFill>
                <a:schemeClr val="lt1"/>
              </a:solidFill>
            </a:endParaRPr>
          </a:p>
          <a:p>
            <a:pPr indent="0" lvl="0" marL="457200" rtl="0" algn="l">
              <a:spcBef>
                <a:spcPts val="0"/>
              </a:spcBef>
              <a:spcAft>
                <a:spcPts val="0"/>
              </a:spcAft>
              <a:buNone/>
            </a:pPr>
            <a:r>
              <a:t/>
            </a:r>
            <a:endParaRPr sz="1700">
              <a:solidFill>
                <a:schemeClr val="lt1"/>
              </a:solidFill>
            </a:endParaRPr>
          </a:p>
          <a:p>
            <a:pPr indent="0" lvl="0" marL="457200" rtl="0" algn="l">
              <a:spcBef>
                <a:spcPts val="0"/>
              </a:spcBef>
              <a:spcAft>
                <a:spcPts val="0"/>
              </a:spcAft>
              <a:buNone/>
            </a:pPr>
            <a:r>
              <a:t/>
            </a:r>
            <a:endParaRPr sz="1700">
              <a:solidFill>
                <a:schemeClr val="lt1"/>
              </a:solidFill>
            </a:endParaRPr>
          </a:p>
          <a:p>
            <a:pPr indent="-336550" lvl="0" marL="457200" rtl="0" algn="l">
              <a:spcBef>
                <a:spcPts val="0"/>
              </a:spcBef>
              <a:spcAft>
                <a:spcPts val="0"/>
              </a:spcAft>
              <a:buClr>
                <a:schemeClr val="lt1"/>
              </a:buClr>
              <a:buSzPts val="1700"/>
              <a:buChar char="●"/>
            </a:pPr>
            <a:r>
              <a:rPr lang="es" sz="1700">
                <a:solidFill>
                  <a:schemeClr val="lt1"/>
                </a:solidFill>
              </a:rPr>
              <a:t>Asimismo, creemos que una mayor duración está asociada a un mayor interés previo por parte del cliente, ante la dificultad de capturar esa variable, caemos en un problema de </a:t>
            </a:r>
            <a:r>
              <a:rPr b="1" lang="es" sz="1700">
                <a:solidFill>
                  <a:schemeClr val="lt1"/>
                </a:solidFill>
              </a:rPr>
              <a:t>endogeneidad</a:t>
            </a:r>
            <a:r>
              <a:rPr lang="es" sz="1700">
                <a:solidFill>
                  <a:schemeClr val="lt1"/>
                </a:solidFill>
              </a:rPr>
              <a:t>. En un modelo con fines predictivos este problema es menor.</a:t>
            </a:r>
            <a:endParaRPr sz="1700">
              <a:solidFill>
                <a:schemeClr val="lt1"/>
              </a:solidFill>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1"/>
          <p:cNvSpPr txBox="1"/>
          <p:nvPr/>
        </p:nvSpPr>
        <p:spPr>
          <a:xfrm>
            <a:off x="-87600" y="1671900"/>
            <a:ext cx="94680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3000">
                <a:solidFill>
                  <a:schemeClr val="lt1"/>
                </a:solidFill>
                <a:latin typeface="Roboto"/>
                <a:ea typeface="Roboto"/>
                <a:cs typeface="Roboto"/>
                <a:sym typeface="Roboto"/>
              </a:rPr>
              <a:t>Trabajo Práctico Final – Ciencia de Datos para Economía y Negocios</a:t>
            </a:r>
            <a:endParaRPr sz="3000">
              <a:solidFill>
                <a:schemeClr val="lt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